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6" r:id="rId2"/>
    <p:sldId id="267" r:id="rId3"/>
    <p:sldId id="269" r:id="rId4"/>
    <p:sldId id="270" r:id="rId5"/>
    <p:sldId id="256" r:id="rId6"/>
    <p:sldId id="257" r:id="rId7"/>
    <p:sldId id="268" r:id="rId8"/>
    <p:sldId id="258" r:id="rId9"/>
    <p:sldId id="259" r:id="rId10"/>
    <p:sldId id="260" r:id="rId11"/>
    <p:sldId id="261" r:id="rId12"/>
    <p:sldId id="264" r:id="rId13"/>
    <p:sldId id="263" r:id="rId14"/>
    <p:sldId id="262" r:id="rId15"/>
    <p:sldId id="265" r:id="rId16"/>
    <p:sldId id="273" r:id="rId17"/>
    <p:sldId id="271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verview" id="{897DB8BD-B429-4B00-83E6-84BF75635D2A}">
          <p14:sldIdLst>
            <p14:sldId id="266"/>
            <p14:sldId id="267"/>
            <p14:sldId id="269"/>
            <p14:sldId id="270"/>
          </p14:sldIdLst>
        </p14:section>
        <p14:section name="Set up Docker Desktop" id="{9F6E4128-7594-47C6-BA57-5ECF171AA2F1}">
          <p14:sldIdLst>
            <p14:sldId id="256"/>
            <p14:sldId id="257"/>
            <p14:sldId id="268"/>
          </p14:sldIdLst>
        </p14:section>
        <p14:section name="Set up Docker Container for SQL Server" id="{A27C26DD-2949-4E4F-B30B-8B99EC5AED42}">
          <p14:sldIdLst>
            <p14:sldId id="258"/>
            <p14:sldId id="259"/>
            <p14:sldId id="260"/>
          </p14:sldIdLst>
        </p14:section>
        <p14:section name="Container for Tomcat Server" id="{77075C78-B178-4727-B9C1-C60ED30F7169}">
          <p14:sldIdLst>
            <p14:sldId id="261"/>
            <p14:sldId id="264"/>
            <p14:sldId id="263"/>
            <p14:sldId id="262"/>
          </p14:sldIdLst>
        </p14:section>
        <p14:section name="Docker Container for Node.js" id="{52BACF5B-D949-4A91-A10E-1F6D4F84A000}">
          <p14:sldIdLst>
            <p14:sldId id="265"/>
            <p14:sldId id="273"/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324" autoAdjust="0"/>
    <p:restoredTop sz="94660"/>
  </p:normalViewPr>
  <p:slideViewPr>
    <p:cSldViewPr snapToGrid="0">
      <p:cViewPr varScale="1">
        <p:scale>
          <a:sx n="73" d="100"/>
          <a:sy n="73" d="100"/>
        </p:scale>
        <p:origin x="36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75F78-D8CE-4672-9C5E-8F3F1EBF6445}" type="datetimeFigureOut">
              <a:rPr lang="en-US" smtClean="0"/>
              <a:t>02-Sep-26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6E1B8-A493-4BBD-82F4-C1067BE621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13276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75F78-D8CE-4672-9C5E-8F3F1EBF6445}" type="datetimeFigureOut">
              <a:rPr lang="en-US" smtClean="0"/>
              <a:t>02-Sep-26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6E1B8-A493-4BBD-82F4-C1067BE621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18493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75F78-D8CE-4672-9C5E-8F3F1EBF6445}" type="datetimeFigureOut">
              <a:rPr lang="en-US" smtClean="0"/>
              <a:t>02-Sep-26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6E1B8-A493-4BBD-82F4-C1067BE621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88929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75F78-D8CE-4672-9C5E-8F3F1EBF6445}" type="datetimeFigureOut">
              <a:rPr lang="en-US" smtClean="0"/>
              <a:t>02-Sep-26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6E1B8-A493-4BBD-82F4-C1067BE621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18640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75F78-D8CE-4672-9C5E-8F3F1EBF6445}" type="datetimeFigureOut">
              <a:rPr lang="en-US" smtClean="0"/>
              <a:t>02-Sep-26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6E1B8-A493-4BBD-82F4-C1067BE621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819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75F78-D8CE-4672-9C5E-8F3F1EBF6445}" type="datetimeFigureOut">
              <a:rPr lang="en-US" smtClean="0"/>
              <a:t>02-Sep-26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6E1B8-A493-4BBD-82F4-C1067BE621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90062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75F78-D8CE-4672-9C5E-8F3F1EBF6445}" type="datetimeFigureOut">
              <a:rPr lang="en-US" smtClean="0"/>
              <a:t>02-Sep-26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6E1B8-A493-4BBD-82F4-C1067BE621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20113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75F78-D8CE-4672-9C5E-8F3F1EBF6445}" type="datetimeFigureOut">
              <a:rPr lang="en-US" smtClean="0"/>
              <a:t>02-Sep-26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6E1B8-A493-4BBD-82F4-C1067BE621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41525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75F78-D8CE-4672-9C5E-8F3F1EBF6445}" type="datetimeFigureOut">
              <a:rPr lang="en-US" smtClean="0"/>
              <a:t>02-Sep-26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6E1B8-A493-4BBD-82F4-C1067BE621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83870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75F78-D8CE-4672-9C5E-8F3F1EBF6445}" type="datetimeFigureOut">
              <a:rPr lang="en-US" smtClean="0"/>
              <a:t>02-Sep-26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6E1B8-A493-4BBD-82F4-C1067BE621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29888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75F78-D8CE-4672-9C5E-8F3F1EBF6445}" type="datetimeFigureOut">
              <a:rPr lang="en-US" smtClean="0"/>
              <a:t>02-Sep-26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6E1B8-A493-4BBD-82F4-C1067BE621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20560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875F78-D8CE-4672-9C5E-8F3F1EBF6445}" type="datetimeFigureOut">
              <a:rPr lang="en-US" smtClean="0"/>
              <a:t>02-Sep-26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36E1B8-A493-4BBD-82F4-C1067BE621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07067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docs.docker.com/desktop/install/windows-install/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://localhost:8081/sample/" TargetMode="External"/><Relationship Id="rId2" Type="http://schemas.openxmlformats.org/officeDocument/2006/relationships/hyperlink" Target="https://tomcat.apache.org/tomcat-7.0-doc/appdev/sample/sample.war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th-TH" sz="4000" dirty="0"/>
              <a:t>การสร้างสภาพแวดล้อมด้วย </a:t>
            </a:r>
            <a:r>
              <a:rPr lang="en-US" sz="4000" dirty="0"/>
              <a:t>Docker Containers </a:t>
            </a:r>
            <a:r>
              <a:rPr lang="th-TH" sz="4000" dirty="0"/>
              <a:t>สำหรับ </a:t>
            </a:r>
            <a:r>
              <a:rPr lang="en-US" sz="4000" dirty="0"/>
              <a:t/>
            </a:r>
            <a:br>
              <a:rPr lang="en-US" sz="4000" dirty="0"/>
            </a:br>
            <a:r>
              <a:rPr lang="th-TH" sz="4000" dirty="0"/>
              <a:t>ใช้พัฒนา</a:t>
            </a:r>
            <a:r>
              <a:rPr lang="en-US" sz="4000" dirty="0"/>
              <a:t> (Dev Environment), </a:t>
            </a:r>
            <a:br>
              <a:rPr lang="en-US" sz="4000" dirty="0"/>
            </a:br>
            <a:r>
              <a:rPr lang="th-TH" sz="4000" dirty="0"/>
              <a:t>ใช้ทดสอบ </a:t>
            </a:r>
            <a:r>
              <a:rPr lang="en-US" sz="4000" dirty="0" smtClean="0"/>
              <a:t>(Test/Staging </a:t>
            </a:r>
            <a:r>
              <a:rPr lang="en-US" sz="4000" dirty="0"/>
              <a:t>Environment), </a:t>
            </a:r>
            <a:br>
              <a:rPr lang="en-US" sz="4000" dirty="0"/>
            </a:br>
            <a:r>
              <a:rPr lang="th-TH" sz="4000" dirty="0"/>
              <a:t>ใช้งานจริง</a:t>
            </a:r>
            <a:r>
              <a:rPr lang="en-US" sz="4000" dirty="0"/>
              <a:t>(Production Environment)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th-TH" dirty="0" smtClean="0"/>
              <a:t>จัดเตรียมโดย ผศ.ดร. ทรงศักดิ์ รองวิริยะพานิช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20350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dirty="0"/>
              <a:t>ความสำคัญของ </a:t>
            </a:r>
            <a:r>
              <a:rPr lang="en-US" dirty="0"/>
              <a:t>Docker </a:t>
            </a:r>
            <a:r>
              <a:rPr lang="th-TH" dirty="0"/>
              <a:t>สำหรับ </a:t>
            </a:r>
            <a:r>
              <a:rPr lang="en-US" dirty="0"/>
              <a:t>Software Engineer / Developer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h-TH" b="1" u="sng" dirty="0">
                <a:solidFill>
                  <a:srgbClr val="FF0000"/>
                </a:solidFill>
              </a:rPr>
              <a:t>การสร้าง </a:t>
            </a:r>
            <a:r>
              <a:rPr lang="en-US" b="1" u="sng" dirty="0">
                <a:solidFill>
                  <a:srgbClr val="FF0000"/>
                </a:solidFill>
              </a:rPr>
              <a:t>Docker Containers </a:t>
            </a:r>
            <a:r>
              <a:rPr lang="th-TH" b="1" u="sng" dirty="0">
                <a:solidFill>
                  <a:srgbClr val="FF0000"/>
                </a:solidFill>
              </a:rPr>
              <a:t>สำหรับใช้เป็น</a:t>
            </a:r>
            <a:r>
              <a:rPr lang="th-TH" b="1" u="sng" dirty="0" smtClean="0">
                <a:solidFill>
                  <a:srgbClr val="FF0000"/>
                </a:solidFill>
              </a:rPr>
              <a:t>สภาพแวดล้อม </a:t>
            </a:r>
            <a:r>
              <a:rPr lang="en-US" b="1" u="sng" dirty="0">
                <a:solidFill>
                  <a:srgbClr val="FF0000"/>
                </a:solidFill>
              </a:rPr>
              <a:t>(Environments / Infrastructure) </a:t>
            </a:r>
            <a:r>
              <a:rPr lang="th-TH" b="1" u="sng" dirty="0" smtClean="0">
                <a:solidFill>
                  <a:srgbClr val="FF0000"/>
                </a:solidFill>
              </a:rPr>
              <a:t>สำหรับการพัฒนาซอฟต์แวร์ </a:t>
            </a:r>
            <a:r>
              <a:rPr lang="en-US" b="1" u="sng" dirty="0" smtClean="0">
                <a:solidFill>
                  <a:srgbClr val="FF0000"/>
                </a:solidFill>
              </a:rPr>
              <a:t>(Development </a:t>
            </a:r>
            <a:r>
              <a:rPr lang="en-US" b="1" u="sng" dirty="0" err="1" smtClean="0">
                <a:solidFill>
                  <a:srgbClr val="FF0000"/>
                </a:solidFill>
              </a:rPr>
              <a:t>Env</a:t>
            </a:r>
            <a:r>
              <a:rPr lang="en-US" b="1" u="sng" dirty="0" smtClean="0">
                <a:solidFill>
                  <a:srgbClr val="FF0000"/>
                </a:solidFill>
              </a:rPr>
              <a:t>) </a:t>
            </a:r>
            <a:r>
              <a:rPr lang="th-TH" b="1" u="sng" dirty="0" smtClean="0">
                <a:solidFill>
                  <a:srgbClr val="FF0000"/>
                </a:solidFill>
              </a:rPr>
              <a:t>สำหรับทดสอบซอฟต์แวร์ </a:t>
            </a:r>
            <a:r>
              <a:rPr lang="en-US" b="1" u="sng" dirty="0" smtClean="0">
                <a:solidFill>
                  <a:srgbClr val="FF0000"/>
                </a:solidFill>
              </a:rPr>
              <a:t>(Staging </a:t>
            </a:r>
            <a:r>
              <a:rPr lang="en-US" b="1" u="sng" dirty="0" err="1" smtClean="0">
                <a:solidFill>
                  <a:srgbClr val="FF0000"/>
                </a:solidFill>
              </a:rPr>
              <a:t>Env</a:t>
            </a:r>
            <a:r>
              <a:rPr lang="en-US" b="1" u="sng" dirty="0" smtClean="0">
                <a:solidFill>
                  <a:srgbClr val="FF0000"/>
                </a:solidFill>
              </a:rPr>
              <a:t>) </a:t>
            </a:r>
            <a:r>
              <a:rPr lang="th-TH" b="1" u="sng" dirty="0" smtClean="0">
                <a:solidFill>
                  <a:srgbClr val="FF0000"/>
                </a:solidFill>
              </a:rPr>
              <a:t>และ สำหรับรันซอฟต์แวร์เพื่อให้บริการจริง </a:t>
            </a:r>
            <a:r>
              <a:rPr lang="en-US" b="1" u="sng" dirty="0" smtClean="0">
                <a:solidFill>
                  <a:srgbClr val="FF0000"/>
                </a:solidFill>
              </a:rPr>
              <a:t>(Production </a:t>
            </a:r>
            <a:r>
              <a:rPr lang="en-US" b="1" u="sng" dirty="0" err="1" smtClean="0">
                <a:solidFill>
                  <a:srgbClr val="FF0000"/>
                </a:solidFill>
              </a:rPr>
              <a:t>Env</a:t>
            </a:r>
            <a:r>
              <a:rPr lang="en-US" b="1" u="sng" dirty="0" smtClean="0">
                <a:solidFill>
                  <a:srgbClr val="FF0000"/>
                </a:solidFill>
              </a:rPr>
              <a:t>)  </a:t>
            </a:r>
            <a:endParaRPr lang="th-TH" b="1" u="sng" dirty="0">
              <a:solidFill>
                <a:srgbClr val="FF0000"/>
              </a:solidFill>
            </a:endParaRPr>
          </a:p>
          <a:p>
            <a:r>
              <a:rPr lang="en-US" b="1" u="sng" dirty="0" smtClean="0">
                <a:solidFill>
                  <a:srgbClr val="FF0000"/>
                </a:solidFill>
              </a:rPr>
              <a:t>Docker </a:t>
            </a:r>
            <a:r>
              <a:rPr lang="en-US" b="1" u="sng" dirty="0">
                <a:solidFill>
                  <a:srgbClr val="FF0000"/>
                </a:solidFill>
              </a:rPr>
              <a:t>Container: </a:t>
            </a:r>
            <a:r>
              <a:rPr lang="en-US" dirty="0"/>
              <a:t>Docker has been giving solutions for simplifying the containerization, management, and isolation of an application’s workloads. </a:t>
            </a:r>
          </a:p>
          <a:p>
            <a:r>
              <a:rPr lang="en-US" b="1" u="sng" dirty="0">
                <a:solidFill>
                  <a:srgbClr val="FF0000"/>
                </a:solidFill>
              </a:rPr>
              <a:t>Infrastructure as Code (Docker Compose</a:t>
            </a:r>
            <a:r>
              <a:rPr lang="en-US" dirty="0">
                <a:solidFill>
                  <a:srgbClr val="FF0000"/>
                </a:solidFill>
              </a:rPr>
              <a:t>) : </a:t>
            </a:r>
            <a:r>
              <a:rPr lang="en-US" dirty="0"/>
              <a:t>can assist in the development of modern multi-container applications and their deployment.</a:t>
            </a:r>
          </a:p>
        </p:txBody>
      </p:sp>
    </p:spTree>
    <p:extLst>
      <p:ext uri="{BB962C8B-B14F-4D97-AF65-F5344CB8AC3E}">
        <p14:creationId xmlns:p14="http://schemas.microsoft.com/office/powerpoint/2010/main" val="8727698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075" y="352697"/>
            <a:ext cx="10515600" cy="6176963"/>
          </a:xfrm>
        </p:spPr>
        <p:txBody>
          <a:bodyPr>
            <a:normAutofit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 smtClean="0"/>
              <a:t>Dev </a:t>
            </a:r>
            <a:r>
              <a:rPr lang="en-US" dirty="0"/>
              <a:t>Environment (Development Environment</a:t>
            </a:r>
            <a:r>
              <a:rPr lang="en-US" dirty="0" smtClean="0"/>
              <a:t>)</a:t>
            </a:r>
            <a:endParaRPr lang="th-TH" dirty="0" smtClean="0"/>
          </a:p>
          <a:p>
            <a:pPr lvl="1"/>
            <a:r>
              <a:rPr lang="th-TH" b="1" i="1" u="sng" dirty="0" smtClean="0"/>
              <a:t>เป้าหมาย</a:t>
            </a:r>
            <a:r>
              <a:rPr lang="th-TH" dirty="0"/>
              <a:t>: สำหรับให้นักพัฒนา </a:t>
            </a:r>
            <a:r>
              <a:rPr lang="en-US" dirty="0" smtClean="0"/>
              <a:t>(Developer) </a:t>
            </a:r>
            <a:r>
              <a:rPr lang="th-TH" dirty="0"/>
              <a:t>เขียน</a:t>
            </a:r>
            <a:r>
              <a:rPr lang="th-TH" dirty="0" smtClean="0"/>
              <a:t>โค้ด</a:t>
            </a:r>
            <a:endParaRPr lang="en-US" dirty="0" smtClean="0"/>
          </a:p>
          <a:p>
            <a:pPr lvl="1"/>
            <a:r>
              <a:rPr lang="th-TH" b="1" i="1" u="sng" dirty="0" smtClean="0"/>
              <a:t>ลักษณะ</a:t>
            </a:r>
            <a:r>
              <a:rPr lang="th-TH" b="1" i="1" u="sng" dirty="0"/>
              <a:t>การทำงาน</a:t>
            </a:r>
            <a:r>
              <a:rPr lang="th-TH" dirty="0"/>
              <a:t>: รันบนเครื่องคอมพิวเตอร์ของนักพัฒนาเองหรือเซิร์ฟเวอร์จำลอง</a:t>
            </a:r>
            <a:r>
              <a:rPr lang="th-TH" dirty="0" smtClean="0"/>
              <a:t>ส่วนตัว</a:t>
            </a:r>
            <a:endParaRPr lang="en-US" dirty="0" smtClean="0"/>
          </a:p>
          <a:p>
            <a:pPr lvl="1"/>
            <a:r>
              <a:rPr lang="th-TH" b="1" i="1" u="sng" dirty="0" smtClean="0"/>
              <a:t>ข้อมูล</a:t>
            </a:r>
            <a:r>
              <a:rPr lang="th-TH" dirty="0"/>
              <a:t>: ใช้ข้อมูลจำลอง </a:t>
            </a:r>
            <a:r>
              <a:rPr lang="en-US" dirty="0" smtClean="0"/>
              <a:t>(Mock </a:t>
            </a:r>
            <a:r>
              <a:rPr lang="en-US" dirty="0"/>
              <a:t>Data) </a:t>
            </a:r>
            <a:r>
              <a:rPr lang="th-TH" dirty="0"/>
              <a:t>หรือข้อมูลทดสอบขนาด</a:t>
            </a:r>
            <a:r>
              <a:rPr lang="th-TH" dirty="0" smtClean="0"/>
              <a:t>เล็ก</a:t>
            </a:r>
            <a:endParaRPr lang="en-US" dirty="0" smtClean="0"/>
          </a:p>
          <a:p>
            <a:pPr lvl="1"/>
            <a:r>
              <a:rPr lang="th-TH" b="1" i="1" u="sng" dirty="0" smtClean="0"/>
              <a:t>ความ</a:t>
            </a:r>
            <a:r>
              <a:rPr lang="th-TH" b="1" i="1" u="sng" dirty="0"/>
              <a:t>ปลอดภัย</a:t>
            </a:r>
            <a:r>
              <a:rPr lang="th-TH" dirty="0"/>
              <a:t>: ต่ำ เพราะเน้นความสะดวกในการแก้ไขโค้ดและทดสอบเบื้องต้น ถ้าระบบพังก็ไม่มีผลกระทบกับ</a:t>
            </a:r>
            <a:r>
              <a:rPr lang="th-TH" dirty="0" smtClean="0"/>
              <a:t>ใคร</a:t>
            </a:r>
          </a:p>
          <a:p>
            <a:pPr marL="514350" indent="-514350">
              <a:buFont typeface="+mj-lt"/>
              <a:buAutoNum type="arabicPeriod" startAt="2"/>
            </a:pPr>
            <a:r>
              <a:rPr lang="en-US" dirty="0" smtClean="0"/>
              <a:t>Staging </a:t>
            </a:r>
            <a:r>
              <a:rPr lang="en-US" dirty="0"/>
              <a:t>Environment (Pre-Production</a:t>
            </a:r>
            <a:r>
              <a:rPr lang="en-US" dirty="0" smtClean="0"/>
              <a:t>)</a:t>
            </a:r>
          </a:p>
          <a:p>
            <a:pPr lvl="1"/>
            <a:r>
              <a:rPr lang="th-TH" b="1" i="1" u="sng" dirty="0" smtClean="0"/>
              <a:t>เป้าหมาย</a:t>
            </a:r>
            <a:r>
              <a:rPr lang="th-TH" dirty="0"/>
              <a:t>: สำหรับทดสอบระบบรอบสุดท้ายให้เหมือนของจริงที่สุดก่อนเปิดใช้</a:t>
            </a:r>
            <a:r>
              <a:rPr lang="th-TH" dirty="0" smtClean="0"/>
              <a:t>งาน</a:t>
            </a:r>
            <a:endParaRPr lang="en-US" dirty="0" smtClean="0"/>
          </a:p>
          <a:p>
            <a:pPr lvl="1"/>
            <a:r>
              <a:rPr lang="th-TH" b="1" i="1" u="sng" dirty="0" smtClean="0"/>
              <a:t>ลักษณะ</a:t>
            </a:r>
            <a:r>
              <a:rPr lang="th-TH" b="1" i="1" u="sng" dirty="0"/>
              <a:t>การทำงาน</a:t>
            </a:r>
            <a:r>
              <a:rPr lang="th-TH" dirty="0"/>
              <a:t>: จำลองโครงสร้างและระบบทุกอย่างให้ถอดแบบมาจาก </a:t>
            </a:r>
            <a:r>
              <a:rPr lang="en-US" dirty="0" smtClean="0"/>
              <a:t>Production</a:t>
            </a:r>
          </a:p>
          <a:p>
            <a:pPr lvl="1"/>
            <a:r>
              <a:rPr lang="th-TH" b="1" i="1" u="sng" dirty="0" smtClean="0"/>
              <a:t>ข้อมูล</a:t>
            </a:r>
            <a:r>
              <a:rPr lang="th-TH" dirty="0"/>
              <a:t>: มักใช้ข้อมูลจำลองที่ใกล้เคียงความจริง หรือข้อมูลสำรอง </a:t>
            </a:r>
            <a:r>
              <a:rPr lang="en-US" dirty="0" smtClean="0"/>
              <a:t>(Backup</a:t>
            </a:r>
            <a:r>
              <a:rPr lang="en-US" dirty="0"/>
              <a:t>) </a:t>
            </a:r>
            <a:r>
              <a:rPr lang="th-TH" dirty="0"/>
              <a:t>ชุด</a:t>
            </a:r>
            <a:r>
              <a:rPr lang="th-TH" dirty="0" smtClean="0"/>
              <a:t>เก่า</a:t>
            </a:r>
            <a:endParaRPr lang="en-US" dirty="0" smtClean="0"/>
          </a:p>
          <a:p>
            <a:pPr lvl="1"/>
            <a:r>
              <a:rPr lang="th-TH" b="1" i="1" u="sng" dirty="0" smtClean="0"/>
              <a:t>ความ</a:t>
            </a:r>
            <a:r>
              <a:rPr lang="th-TH" b="1" i="1" u="sng" dirty="0"/>
              <a:t>ปลอดภัย</a:t>
            </a:r>
            <a:r>
              <a:rPr lang="th-TH" dirty="0"/>
              <a:t>: ใช้ทดสอบระบบร่วมกับทีม </a:t>
            </a:r>
            <a:r>
              <a:rPr lang="en-US" dirty="0"/>
              <a:t>QA (Quality Assurance) </a:t>
            </a:r>
            <a:r>
              <a:rPr lang="th-TH" dirty="0"/>
              <a:t>และให้ลูกค้าหรือ </a:t>
            </a:r>
            <a:r>
              <a:rPr lang="en-US" dirty="0"/>
              <a:t>Product Owner </a:t>
            </a:r>
            <a:r>
              <a:rPr lang="th-TH" dirty="0"/>
              <a:t>ตรวจสอบความถูกต้อง </a:t>
            </a:r>
            <a:r>
              <a:rPr lang="en-US" dirty="0" smtClean="0"/>
              <a:t>(UAT)</a:t>
            </a:r>
            <a:endParaRPr lang="th-TH" dirty="0" smtClean="0"/>
          </a:p>
          <a:p>
            <a:pPr marL="514350" indent="-514350">
              <a:buFont typeface="+mj-lt"/>
              <a:buAutoNum type="arabicPeriod" startAt="3"/>
            </a:pPr>
            <a:r>
              <a:rPr lang="en-US" dirty="0" smtClean="0"/>
              <a:t>Production </a:t>
            </a:r>
            <a:r>
              <a:rPr lang="en-US" dirty="0"/>
              <a:t>Environment (Prod</a:t>
            </a:r>
            <a:r>
              <a:rPr lang="en-US" dirty="0" smtClean="0"/>
              <a:t>)</a:t>
            </a:r>
          </a:p>
          <a:p>
            <a:pPr lvl="1"/>
            <a:r>
              <a:rPr lang="th-TH" b="1" i="1" u="sng" dirty="0" smtClean="0"/>
              <a:t>เป้าหมาย</a:t>
            </a:r>
            <a:r>
              <a:rPr lang="th-TH" dirty="0"/>
              <a:t>: ระบบจริงที่ให้ผู้ใช้งานจริง </a:t>
            </a:r>
            <a:r>
              <a:rPr lang="en-US" dirty="0" smtClean="0"/>
              <a:t>(End-User</a:t>
            </a:r>
            <a:r>
              <a:rPr lang="en-US" dirty="0"/>
              <a:t>) </a:t>
            </a:r>
            <a:r>
              <a:rPr lang="th-TH" dirty="0"/>
              <a:t>เข้ามาใช้</a:t>
            </a:r>
            <a:r>
              <a:rPr lang="th-TH" dirty="0" smtClean="0"/>
              <a:t>งาน</a:t>
            </a:r>
            <a:endParaRPr lang="en-US" dirty="0" smtClean="0"/>
          </a:p>
          <a:p>
            <a:pPr lvl="1"/>
            <a:r>
              <a:rPr lang="th-TH" b="1" i="1" u="sng" dirty="0" smtClean="0"/>
              <a:t>ลักษณะ</a:t>
            </a:r>
            <a:r>
              <a:rPr lang="th-TH" b="1" i="1" u="sng" dirty="0"/>
              <a:t>การทำงาน</a:t>
            </a:r>
            <a:r>
              <a:rPr lang="th-TH" dirty="0"/>
              <a:t>: อยู่บนเซิร์ฟเวอร์จริงหรือ </a:t>
            </a:r>
            <a:r>
              <a:rPr lang="en-US" dirty="0"/>
              <a:t>Cloud </a:t>
            </a:r>
            <a:r>
              <a:rPr lang="th-TH" dirty="0"/>
              <a:t>จริงที่มีความเสถียรและรองรับผู้ใช้จำนวน</a:t>
            </a:r>
            <a:r>
              <a:rPr lang="th-TH" dirty="0" smtClean="0"/>
              <a:t>มาก</a:t>
            </a:r>
            <a:endParaRPr lang="en-US" dirty="0" smtClean="0"/>
          </a:p>
          <a:p>
            <a:pPr lvl="1"/>
            <a:r>
              <a:rPr lang="th-TH" b="1" i="1" u="sng" dirty="0" smtClean="0"/>
              <a:t>ข้อมูล</a:t>
            </a:r>
            <a:r>
              <a:rPr lang="th-TH" dirty="0"/>
              <a:t>: เป็นข้อมูลจริง </a:t>
            </a:r>
            <a:r>
              <a:rPr lang="en-US" dirty="0" smtClean="0"/>
              <a:t>(Real </a:t>
            </a:r>
            <a:r>
              <a:rPr lang="en-US" dirty="0"/>
              <a:t>Data) </a:t>
            </a:r>
            <a:r>
              <a:rPr lang="th-TH" dirty="0"/>
              <a:t>และมีการทำสำรองข้อมูล </a:t>
            </a:r>
            <a:r>
              <a:rPr lang="en-US" dirty="0" smtClean="0"/>
              <a:t>(Backup</a:t>
            </a:r>
            <a:r>
              <a:rPr lang="en-US" dirty="0"/>
              <a:t>) </a:t>
            </a:r>
            <a:r>
              <a:rPr lang="th-TH" dirty="0" smtClean="0"/>
              <a:t>สม่ำเสมอ</a:t>
            </a:r>
            <a:endParaRPr lang="en-US" dirty="0" smtClean="0"/>
          </a:p>
          <a:p>
            <a:pPr lvl="1"/>
            <a:r>
              <a:rPr lang="th-TH" b="1" i="1" u="sng" dirty="0" smtClean="0"/>
              <a:t>ความ</a:t>
            </a:r>
            <a:r>
              <a:rPr lang="th-TH" b="1" i="1" u="sng" dirty="0"/>
              <a:t>ปลอดภัย</a:t>
            </a:r>
            <a:r>
              <a:rPr lang="th-TH" dirty="0"/>
              <a:t>: สูงที่สุด ห้ามเกิดข้อผิดพลาด และห้ามแก้ไขโค้ดโดยตรงบนนี้โดยไม่มีการทดสอบก่อน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00848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5211" y="287383"/>
            <a:ext cx="10515600" cy="1038180"/>
          </a:xfr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pPr algn="ctr"/>
            <a:r>
              <a:rPr lang="en-US" dirty="0" smtClean="0"/>
              <a:t>UML Deployment Diagram </a:t>
            </a:r>
            <a:r>
              <a:rPr lang="th-TH" dirty="0" smtClean="0"/>
              <a:t>แสดง </a:t>
            </a:r>
            <a:r>
              <a:rPr lang="en-US" dirty="0" smtClean="0"/>
              <a:t>Environment </a:t>
            </a:r>
            <a:br>
              <a:rPr lang="en-US" dirty="0" smtClean="0"/>
            </a:br>
            <a:r>
              <a:rPr lang="th-TH" dirty="0" smtClean="0"/>
              <a:t>สำหรับติดตั้ง </a:t>
            </a:r>
            <a:r>
              <a:rPr lang="en-US" dirty="0" smtClean="0"/>
              <a:t>Web App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75211" y="1525178"/>
            <a:ext cx="10267405" cy="503237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val="38994276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dirty="0"/>
              <a:t>ขั้นตอนการติดตั้ง </a:t>
            </a:r>
            <a:r>
              <a:rPr lang="en-US" dirty="0"/>
              <a:t>Docker </a:t>
            </a:r>
            <a:r>
              <a:rPr lang="th-TH" dirty="0"/>
              <a:t>และ </a:t>
            </a:r>
            <a:r>
              <a:rPr lang="en-US" dirty="0"/>
              <a:t>Containers </a:t>
            </a:r>
            <a:r>
              <a:rPr lang="th-TH" dirty="0"/>
              <a:t>สำหรับวิชา </a:t>
            </a:r>
            <a:r>
              <a:rPr lang="en-US" dirty="0"/>
              <a:t>CS264/CS261 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th-TH" dirty="0"/>
              <a:t>ต้องลง </a:t>
            </a:r>
            <a:r>
              <a:rPr lang="en-US" dirty="0"/>
              <a:t>Docker Desktop </a:t>
            </a:r>
            <a:r>
              <a:rPr lang="th-TH" dirty="0"/>
              <a:t>ให้สำเร็จก่อน </a:t>
            </a:r>
          </a:p>
          <a:p>
            <a:pPr marL="514350" indent="-514350">
              <a:buFont typeface="+mj-lt"/>
              <a:buAutoNum type="arabicPeriod"/>
            </a:pPr>
            <a:r>
              <a:rPr lang="th-TH" dirty="0" smtClean="0"/>
              <a:t>รันคำสั่ง </a:t>
            </a:r>
            <a:r>
              <a:rPr lang="en-US" dirty="0" smtClean="0"/>
              <a:t>“</a:t>
            </a:r>
            <a:r>
              <a:rPr lang="en-US" dirty="0" err="1" smtClean="0"/>
              <a:t>docker</a:t>
            </a:r>
            <a:r>
              <a:rPr lang="en-US" dirty="0" smtClean="0"/>
              <a:t> </a:t>
            </a:r>
            <a:r>
              <a:rPr lang="en-US" dirty="0"/>
              <a:t>network create mynetwork1” </a:t>
            </a:r>
            <a:r>
              <a:rPr lang="th-TH" dirty="0" smtClean="0"/>
              <a:t>เพื่อทำการสร้าง </a:t>
            </a:r>
            <a:r>
              <a:rPr lang="en-US" dirty="0" smtClean="0"/>
              <a:t>Docker Network </a:t>
            </a:r>
            <a:r>
              <a:rPr lang="th-TH" dirty="0" smtClean="0"/>
              <a:t>ขึ้นก่อนสำหรับให้ </a:t>
            </a:r>
            <a:r>
              <a:rPr lang="en-US" dirty="0" smtClean="0"/>
              <a:t>Containers </a:t>
            </a:r>
            <a:r>
              <a:rPr lang="th-TH" dirty="0" smtClean="0"/>
              <a:t>เชื่อมต่อกัน</a:t>
            </a:r>
            <a:endParaRPr lang="en-US" dirty="0" smtClean="0"/>
          </a:p>
          <a:p>
            <a:pPr marL="514350" indent="-514350">
              <a:buFont typeface="+mj-lt"/>
              <a:buAutoNum type="arabicPeriod"/>
            </a:pPr>
            <a:r>
              <a:rPr lang="th-TH" dirty="0" smtClean="0"/>
              <a:t>จากนั้น</a:t>
            </a:r>
            <a:r>
              <a:rPr lang="th-TH" dirty="0"/>
              <a:t>ติดตั้ง </a:t>
            </a:r>
            <a:r>
              <a:rPr lang="en-US" dirty="0"/>
              <a:t>Containers </a:t>
            </a:r>
            <a:r>
              <a:rPr lang="en-US" dirty="0" smtClean="0"/>
              <a:t>3 </a:t>
            </a:r>
            <a:r>
              <a:rPr lang="th-TH" dirty="0"/>
              <a:t>ตัวคือ </a:t>
            </a:r>
            <a:endParaRPr lang="en-US" dirty="0" smtClean="0"/>
          </a:p>
          <a:p>
            <a:pPr marL="914400" lvl="1" indent="-457200">
              <a:buAutoNum type="arabicParenR"/>
            </a:pPr>
            <a:r>
              <a:rPr lang="en-US" dirty="0" smtClean="0"/>
              <a:t>MS </a:t>
            </a:r>
            <a:r>
              <a:rPr lang="en-US" dirty="0"/>
              <a:t>SQL Server </a:t>
            </a:r>
            <a:r>
              <a:rPr lang="en-US" dirty="0" smtClean="0"/>
              <a:t>Container </a:t>
            </a:r>
          </a:p>
          <a:p>
            <a:pPr marL="914400" lvl="1" indent="-457200">
              <a:buAutoNum type="arabicParenR"/>
            </a:pPr>
            <a:r>
              <a:rPr lang="en-US" dirty="0" smtClean="0"/>
              <a:t>Tomcat </a:t>
            </a:r>
            <a:r>
              <a:rPr lang="en-US" dirty="0"/>
              <a:t>Web Server </a:t>
            </a:r>
            <a:r>
              <a:rPr lang="en-US" dirty="0" smtClean="0"/>
              <a:t>Container </a:t>
            </a:r>
          </a:p>
          <a:p>
            <a:pPr marL="914400" lvl="1" indent="-457200">
              <a:buAutoNum type="arabicParenR"/>
            </a:pPr>
            <a:r>
              <a:rPr lang="en-US" dirty="0" smtClean="0"/>
              <a:t>Node.js Server Container</a:t>
            </a:r>
          </a:p>
          <a:p>
            <a:pPr marL="1428750" lvl="2" indent="-514350">
              <a:buFont typeface="+mj-lt"/>
              <a:buAutoNum type="alphaLcParenR"/>
            </a:pPr>
            <a:r>
              <a:rPr lang="th-TH" dirty="0" smtClean="0"/>
              <a:t>นำ </a:t>
            </a:r>
            <a:r>
              <a:rPr lang="en-US" dirty="0" smtClean="0"/>
              <a:t>Docker File </a:t>
            </a:r>
            <a:r>
              <a:rPr lang="th-TH" dirty="0" smtClean="0"/>
              <a:t>มา </a:t>
            </a:r>
            <a:r>
              <a:rPr lang="en-US" dirty="0" smtClean="0"/>
              <a:t>Build </a:t>
            </a:r>
            <a:r>
              <a:rPr lang="th-TH" dirty="0" smtClean="0"/>
              <a:t>สร้าง </a:t>
            </a:r>
            <a:r>
              <a:rPr lang="en-US" dirty="0" smtClean="0"/>
              <a:t>Docker Images </a:t>
            </a:r>
            <a:r>
              <a:rPr lang="th-TH" dirty="0" smtClean="0"/>
              <a:t>ก่อน </a:t>
            </a:r>
            <a:endParaRPr lang="en-US" dirty="0" smtClean="0"/>
          </a:p>
          <a:p>
            <a:pPr marL="1428750" lvl="2" indent="-514350">
              <a:buFont typeface="+mj-lt"/>
              <a:buAutoNum type="alphaLcParenR"/>
            </a:pPr>
            <a:r>
              <a:rPr lang="th-TH" dirty="0" smtClean="0"/>
              <a:t>นำ </a:t>
            </a:r>
            <a:r>
              <a:rPr lang="en-US" dirty="0" smtClean="0"/>
              <a:t>Docker Image</a:t>
            </a:r>
            <a:r>
              <a:rPr lang="en-US" dirty="0"/>
              <a:t> </a:t>
            </a:r>
            <a:r>
              <a:rPr lang="th-TH" dirty="0" smtClean="0"/>
              <a:t>มารันสร้าง </a:t>
            </a:r>
            <a:r>
              <a:rPr lang="en-US" dirty="0" smtClean="0"/>
              <a:t>Docker Containers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90532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4353" t="982" r="3583" b="5446"/>
          <a:stretch/>
        </p:blipFill>
        <p:spPr>
          <a:xfrm>
            <a:off x="0" y="0"/>
            <a:ext cx="11978640" cy="6844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19076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dirty="0"/>
              <a:t>ขั้นตอนการลง </a:t>
            </a:r>
            <a:r>
              <a:rPr lang="en-US" dirty="0"/>
              <a:t>Docker Desktop </a:t>
            </a:r>
            <a:r>
              <a:rPr lang="th-TH" dirty="0"/>
              <a:t>ให้สำเร็จ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Download Docker Desktop Installer </a:t>
            </a:r>
            <a:r>
              <a:rPr lang="th-TH" dirty="0"/>
              <a:t>แล้วทำการ</a:t>
            </a:r>
            <a:r>
              <a:rPr lang="th-TH" dirty="0">
                <a:solidFill>
                  <a:srgbClr val="FF0000"/>
                </a:solidFill>
              </a:rPr>
              <a:t>ติดตั้ง </a:t>
            </a:r>
            <a:r>
              <a:rPr lang="en-US" dirty="0">
                <a:solidFill>
                  <a:srgbClr val="FF0000"/>
                </a:solidFill>
              </a:rPr>
              <a:t>Docker Desktop </a:t>
            </a:r>
            <a:r>
              <a:rPr lang="th-TH" dirty="0"/>
              <a:t>ก่อนตามคู่มือใน</a:t>
            </a:r>
            <a:r>
              <a:rPr lang="en-US" dirty="0"/>
              <a:t> Web : </a:t>
            </a:r>
            <a:r>
              <a:rPr lang="en-US" dirty="0">
                <a:hlinkClick r:id="rId2"/>
              </a:rPr>
              <a:t>https://docs.docker.com/desktop/install/windows-install</a:t>
            </a:r>
          </a:p>
          <a:p>
            <a:endParaRPr lang="en-US" dirty="0">
              <a:hlinkClick r:id="rId2"/>
            </a:endParaRPr>
          </a:p>
          <a:p>
            <a:endParaRPr lang="en-US" dirty="0">
              <a:hlinkClick r:id="rId2"/>
            </a:endParaRPr>
          </a:p>
          <a:p>
            <a:r>
              <a:rPr lang="th-TH" dirty="0"/>
              <a:t>รัน </a:t>
            </a:r>
            <a:r>
              <a:rPr lang="en-US" dirty="0" err="1"/>
              <a:t>cmd</a:t>
            </a:r>
            <a:r>
              <a:rPr lang="en-US" dirty="0"/>
              <a:t> </a:t>
            </a:r>
            <a:r>
              <a:rPr lang="th-TH" dirty="0"/>
              <a:t>เช็ค </a:t>
            </a:r>
            <a:r>
              <a:rPr lang="en-US" dirty="0" err="1"/>
              <a:t>docker</a:t>
            </a:r>
            <a:r>
              <a:rPr lang="en-US" dirty="0"/>
              <a:t> --version </a:t>
            </a:r>
            <a:r>
              <a:rPr lang="th-TH" dirty="0"/>
              <a:t>หลังติดตั้ง</a:t>
            </a:r>
            <a:endParaRPr lang="en-US" dirty="0"/>
          </a:p>
          <a:p>
            <a:r>
              <a:rPr lang="th-TH" dirty="0"/>
              <a:t>เรียกและเช็ค </a:t>
            </a:r>
            <a:r>
              <a:rPr lang="en-US" dirty="0"/>
              <a:t>services </a:t>
            </a:r>
            <a:r>
              <a:rPr lang="th-TH" dirty="0"/>
              <a:t>บน </a:t>
            </a:r>
            <a:r>
              <a:rPr lang="en-US" dirty="0"/>
              <a:t>windows </a:t>
            </a:r>
            <a:r>
              <a:rPr lang="th-TH" dirty="0"/>
              <a:t>ว่า </a:t>
            </a:r>
            <a:r>
              <a:rPr lang="en-US" dirty="0" err="1"/>
              <a:t>docker</a:t>
            </a:r>
            <a:r>
              <a:rPr lang="en-US" dirty="0"/>
              <a:t> desktop service </a:t>
            </a:r>
            <a:r>
              <a:rPr lang="th-TH" dirty="0"/>
              <a:t>รันอยู่หรือไม่ </a:t>
            </a:r>
          </a:p>
          <a:p>
            <a:r>
              <a:rPr lang="th-TH" dirty="0"/>
              <a:t>จากนั้นที่ </a:t>
            </a:r>
            <a:r>
              <a:rPr lang="en-US" dirty="0" err="1"/>
              <a:t>cmd</a:t>
            </a:r>
            <a:r>
              <a:rPr lang="en-US" dirty="0"/>
              <a:t> </a:t>
            </a:r>
            <a:r>
              <a:rPr lang="th-TH" dirty="0"/>
              <a:t>รันคำสั่ง </a:t>
            </a:r>
            <a:r>
              <a:rPr lang="en-US" dirty="0"/>
              <a:t>“docker network create mynetwork1” </a:t>
            </a:r>
            <a:r>
              <a:rPr lang="th-TH" dirty="0"/>
              <a:t>เพื่อสร้าง </a:t>
            </a:r>
            <a:r>
              <a:rPr lang="en-US" dirty="0"/>
              <a:t>network </a:t>
            </a:r>
            <a:r>
              <a:rPr lang="th-TH" dirty="0"/>
              <a:t>สำหรับให้ </a:t>
            </a:r>
            <a:r>
              <a:rPr lang="en-US" dirty="0"/>
              <a:t>Containers </a:t>
            </a:r>
            <a:r>
              <a:rPr lang="th-TH" dirty="0"/>
              <a:t>เชื่อมต่อกัน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9746" y="2871239"/>
            <a:ext cx="647790" cy="800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03797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0635" y="640085"/>
            <a:ext cx="11353800" cy="5032375"/>
          </a:xfrm>
        </p:spPr>
        <p:txBody>
          <a:bodyPr>
            <a:normAutofit fontScale="70000" lnSpcReduction="20000"/>
          </a:bodyPr>
          <a:lstStyle/>
          <a:p>
            <a:r>
              <a:rPr lang="th-TH" sz="3200" dirty="0">
                <a:latin typeface="Browallia New" panose="020B0604020202020204" pitchFamily="34" charset="-34"/>
                <a:cs typeface="Browallia New" panose="020B0604020202020204" pitchFamily="34" charset="-34"/>
              </a:rPr>
              <a:t>รัน </a:t>
            </a:r>
            <a:r>
              <a:rPr lang="en-US" sz="3200" dirty="0" err="1">
                <a:latin typeface="Browallia New" panose="020B0604020202020204" pitchFamily="34" charset="-34"/>
                <a:cs typeface="Browallia New" panose="020B0604020202020204" pitchFamily="34" charset="-34"/>
              </a:rPr>
              <a:t>docker</a:t>
            </a:r>
            <a:r>
              <a:rPr lang="en-US" sz="3200" dirty="0">
                <a:latin typeface="Browallia New" panose="020B0604020202020204" pitchFamily="34" charset="-34"/>
                <a:cs typeface="Browallia New" panose="020B0604020202020204" pitchFamily="34" charset="-34"/>
              </a:rPr>
              <a:t> desktop</a:t>
            </a:r>
            <a:r>
              <a:rPr lang="th-TH" sz="3200" dirty="0">
                <a:latin typeface="Browallia New" panose="020B0604020202020204" pitchFamily="34" charset="-34"/>
                <a:cs typeface="Browallia New" panose="020B0604020202020204" pitchFamily="34" charset="-34"/>
              </a:rPr>
              <a:t> ที่ติดตั้งเสร็จ</a:t>
            </a:r>
            <a:r>
              <a:rPr lang="en-US" sz="3200" dirty="0">
                <a:latin typeface="Browallia New" panose="020B0604020202020204" pitchFamily="34" charset="-34"/>
                <a:cs typeface="Browallia New" panose="020B0604020202020204" pitchFamily="34" charset="-34"/>
              </a:rPr>
              <a:t> </a:t>
            </a:r>
            <a:r>
              <a:rPr lang="th-TH" sz="3200" dirty="0">
                <a:latin typeface="Browallia New" panose="020B0604020202020204" pitchFamily="34" charset="-34"/>
                <a:cs typeface="Browallia New" panose="020B0604020202020204" pitchFamily="34" charset="-34"/>
              </a:rPr>
              <a:t>จากนั้นรันคำสั่ง </a:t>
            </a:r>
            <a:r>
              <a:rPr lang="en-US" sz="3200" dirty="0">
                <a:latin typeface="Browallia New" panose="020B0604020202020204" pitchFamily="34" charset="-34"/>
                <a:cs typeface="Browallia New" panose="020B0604020202020204" pitchFamily="34" charset="-34"/>
              </a:rPr>
              <a:t>“docker network create mynetwork1” </a:t>
            </a:r>
            <a:r>
              <a:rPr lang="th-TH" sz="3200" dirty="0">
                <a:latin typeface="Browallia New" panose="020B0604020202020204" pitchFamily="34" charset="-34"/>
                <a:cs typeface="Browallia New" panose="020B0604020202020204" pitchFamily="34" charset="-34"/>
              </a:rPr>
              <a:t>เพื่อสร้าง </a:t>
            </a:r>
            <a:r>
              <a:rPr lang="en-US" sz="3200" dirty="0">
                <a:latin typeface="Browallia New" panose="020B0604020202020204" pitchFamily="34" charset="-34"/>
                <a:cs typeface="Browallia New" panose="020B0604020202020204" pitchFamily="34" charset="-34"/>
              </a:rPr>
              <a:t>Network </a:t>
            </a:r>
            <a:r>
              <a:rPr lang="th-TH" sz="3200" dirty="0">
                <a:latin typeface="Browallia New" panose="020B0604020202020204" pitchFamily="34" charset="-34"/>
                <a:cs typeface="Browallia New" panose="020B0604020202020204" pitchFamily="34" charset="-34"/>
              </a:rPr>
              <a:t>สำหรับเชื่อม </a:t>
            </a:r>
            <a:r>
              <a:rPr lang="en-US" sz="3200" dirty="0">
                <a:latin typeface="Browallia New" panose="020B0604020202020204" pitchFamily="34" charset="-34"/>
                <a:cs typeface="Browallia New" panose="020B0604020202020204" pitchFamily="34" charset="-34"/>
              </a:rPr>
              <a:t>Docker Containers </a:t>
            </a:r>
            <a:r>
              <a:rPr lang="th-TH" sz="3200" dirty="0">
                <a:latin typeface="Browallia New" panose="020B0604020202020204" pitchFamily="34" charset="-34"/>
                <a:cs typeface="Browallia New" panose="020B0604020202020204" pitchFamily="34" charset="-34"/>
              </a:rPr>
              <a:t>ต่างๆที่จะสร้าง</a:t>
            </a:r>
            <a:endParaRPr lang="en-US" sz="3200" dirty="0">
              <a:latin typeface="Browallia New" panose="020B0604020202020204" pitchFamily="34" charset="-34"/>
              <a:cs typeface="Browallia New" panose="020B0604020202020204" pitchFamily="34" charset="-34"/>
            </a:endParaRPr>
          </a:p>
          <a:p>
            <a:endParaRPr lang="en-US" sz="3200" dirty="0">
              <a:latin typeface="Browallia New" panose="020B0604020202020204" pitchFamily="34" charset="-34"/>
              <a:cs typeface="Browallia New" panose="020B0604020202020204" pitchFamily="34" charset="-34"/>
            </a:endParaRPr>
          </a:p>
          <a:p>
            <a:endParaRPr lang="en-US" sz="3200" dirty="0">
              <a:latin typeface="Browallia New" panose="020B0604020202020204" pitchFamily="34" charset="-34"/>
              <a:cs typeface="Browallia New" panose="020B0604020202020204" pitchFamily="34" charset="-34"/>
            </a:endParaRPr>
          </a:p>
          <a:p>
            <a:r>
              <a:rPr lang="th-TH" sz="2900" dirty="0">
                <a:latin typeface="Browallia New" panose="020B0604020202020204" pitchFamily="34" charset="-34"/>
                <a:cs typeface="Browallia New" panose="020B0604020202020204" pitchFamily="34" charset="-34"/>
              </a:rPr>
              <a:t>ให้ทำการสร้าง </a:t>
            </a:r>
            <a:r>
              <a:rPr lang="en-US" sz="2900" dirty="0" err="1">
                <a:latin typeface="Browallia New" panose="020B0604020202020204" pitchFamily="34" charset="-34"/>
                <a:cs typeface="Browallia New" panose="020B0604020202020204" pitchFamily="34" charset="-34"/>
              </a:rPr>
              <a:t>DockerContainer_MS_SQL.dockerfile</a:t>
            </a:r>
            <a:r>
              <a:rPr lang="en-US" sz="2900" dirty="0">
                <a:latin typeface="Browallia New" panose="020B0604020202020204" pitchFamily="34" charset="-34"/>
                <a:cs typeface="Browallia New" panose="020B0604020202020204" pitchFamily="34" charset="-34"/>
              </a:rPr>
              <a:t>  </a:t>
            </a:r>
            <a:r>
              <a:rPr lang="th-TH" sz="2900" dirty="0">
                <a:latin typeface="Browallia New" panose="020B0604020202020204" pitchFamily="34" charset="-34"/>
                <a:cs typeface="Browallia New" panose="020B0604020202020204" pitchFamily="34" charset="-34"/>
              </a:rPr>
              <a:t>ที่มี </a:t>
            </a:r>
            <a:r>
              <a:rPr lang="en-US" sz="2900" dirty="0">
                <a:latin typeface="Browallia New" panose="020B0604020202020204" pitchFamily="34" charset="-34"/>
                <a:cs typeface="Browallia New" panose="020B0604020202020204" pitchFamily="34" charset="-34"/>
              </a:rPr>
              <a:t>code </a:t>
            </a:r>
            <a:r>
              <a:rPr lang="th-TH" sz="2900" dirty="0">
                <a:latin typeface="Browallia New" panose="020B0604020202020204" pitchFamily="34" charset="-34"/>
                <a:cs typeface="Browallia New" panose="020B0604020202020204" pitchFamily="34" charset="-34"/>
              </a:rPr>
              <a:t>ต่อไปนี้ </a:t>
            </a:r>
          </a:p>
          <a:p>
            <a:pPr marL="0" indent="0">
              <a:buNone/>
            </a:pPr>
            <a:r>
              <a:rPr lang="en-US" sz="3400" dirty="0">
                <a:solidFill>
                  <a:srgbClr val="FF0000"/>
                </a:solidFill>
                <a:latin typeface="Browallia New" panose="020B0604020202020204" pitchFamily="34" charset="-34"/>
                <a:cs typeface="Browallia New" panose="020B0604020202020204" pitchFamily="34" charset="-34"/>
              </a:rPr>
              <a:t>(</a:t>
            </a:r>
            <a:r>
              <a:rPr lang="th-TH" sz="3400" dirty="0">
                <a:solidFill>
                  <a:srgbClr val="FF0000"/>
                </a:solidFill>
                <a:latin typeface="Browallia New" panose="020B0604020202020204" pitchFamily="34" charset="-34"/>
                <a:cs typeface="Browallia New" panose="020B0604020202020204" pitchFamily="34" charset="-34"/>
              </a:rPr>
              <a:t>สร้างแล้วอยู่ใน </a:t>
            </a:r>
            <a:r>
              <a:rPr lang="en-US" sz="3400" dirty="0">
                <a:solidFill>
                  <a:srgbClr val="FF0000"/>
                </a:solidFill>
                <a:latin typeface="Browallia New" panose="020B0604020202020204" pitchFamily="34" charset="-34"/>
                <a:cs typeface="Browallia New" panose="020B0604020202020204" pitchFamily="34" charset="-34"/>
              </a:rPr>
              <a:t>folder</a:t>
            </a:r>
            <a:r>
              <a:rPr lang="th-TH" sz="3400" dirty="0">
                <a:solidFill>
                  <a:srgbClr val="FF0000"/>
                </a:solidFill>
                <a:latin typeface="Browallia New" panose="020B0604020202020204" pitchFamily="34" charset="-34"/>
                <a:cs typeface="Browallia New" panose="020B0604020202020204" pitchFamily="34" charset="-34"/>
              </a:rPr>
              <a:t>ที่ส่งให้)</a:t>
            </a:r>
            <a:r>
              <a:rPr lang="th-TH" sz="2900" dirty="0">
                <a:latin typeface="Browallia New" panose="020B0604020202020204" pitchFamily="34" charset="-34"/>
                <a:cs typeface="Browallia New" panose="020B0604020202020204" pitchFamily="34" charset="-34"/>
              </a:rPr>
              <a:t/>
            </a:r>
            <a:br>
              <a:rPr lang="th-TH" sz="2900" dirty="0">
                <a:latin typeface="Browallia New" panose="020B0604020202020204" pitchFamily="34" charset="-34"/>
                <a:cs typeface="Browallia New" panose="020B0604020202020204" pitchFamily="34" charset="-34"/>
              </a:rPr>
            </a:br>
            <a:r>
              <a:rPr lang="th-TH" sz="3200" dirty="0">
                <a:latin typeface="Browallia New" panose="020B0604020202020204" pitchFamily="34" charset="-34"/>
                <a:cs typeface="Browallia New" panose="020B0604020202020204" pitchFamily="34" charset="-34"/>
              </a:rPr>
              <a:t>        </a:t>
            </a:r>
            <a:r>
              <a:rPr lang="en-US" sz="3200" dirty="0">
                <a:latin typeface="Browallia New" panose="020B0604020202020204" pitchFamily="34" charset="-34"/>
                <a:cs typeface="Browallia New" panose="020B0604020202020204" pitchFamily="34" charset="-34"/>
              </a:rPr>
              <a:t> </a:t>
            </a:r>
            <a:r>
              <a:rPr lang="en-US" sz="2400" dirty="0">
                <a:latin typeface="Browallia New" panose="020B0604020202020204" pitchFamily="34" charset="-34"/>
                <a:cs typeface="Browallia New" panose="020B0604020202020204" pitchFamily="34" charset="-34"/>
              </a:rPr>
              <a:t>FROM mcr.microsoft.com/</a:t>
            </a:r>
            <a:r>
              <a:rPr lang="en-US" sz="2400" dirty="0" err="1">
                <a:latin typeface="Browallia New" panose="020B0604020202020204" pitchFamily="34" charset="-34"/>
                <a:cs typeface="Browallia New" panose="020B0604020202020204" pitchFamily="34" charset="-34"/>
              </a:rPr>
              <a:t>mssql</a:t>
            </a:r>
            <a:r>
              <a:rPr lang="en-US" sz="2400" dirty="0">
                <a:latin typeface="Browallia New" panose="020B0604020202020204" pitchFamily="34" charset="-34"/>
                <a:cs typeface="Browallia New" panose="020B0604020202020204" pitchFamily="34" charset="-34"/>
              </a:rPr>
              <a:t>/server:2019-latest</a:t>
            </a:r>
          </a:p>
          <a:p>
            <a:pPr marL="914400" lvl="2" indent="0">
              <a:buNone/>
            </a:pPr>
            <a:r>
              <a:rPr lang="en-US" sz="2400" dirty="0">
                <a:latin typeface="Browallia New" panose="020B0604020202020204" pitchFamily="34" charset="-34"/>
                <a:cs typeface="Browallia New" panose="020B0604020202020204" pitchFamily="34" charset="-34"/>
              </a:rPr>
              <a:t>ENV ACCEPT_EULA=Y</a:t>
            </a:r>
          </a:p>
          <a:p>
            <a:pPr marL="914400" lvl="2" indent="0">
              <a:buNone/>
            </a:pPr>
            <a:r>
              <a:rPr lang="en-US" sz="2400" dirty="0" smtClean="0">
                <a:latin typeface="Browallia New" panose="020B0604020202020204" pitchFamily="34" charset="-34"/>
                <a:cs typeface="Browallia New" panose="020B0604020202020204" pitchFamily="34" charset="-34"/>
              </a:rPr>
              <a:t># ENV </a:t>
            </a:r>
            <a:r>
              <a:rPr lang="en-US" sz="2400" dirty="0">
                <a:latin typeface="Browallia New" panose="020B0604020202020204" pitchFamily="34" charset="-34"/>
                <a:cs typeface="Browallia New" panose="020B0604020202020204" pitchFamily="34" charset="-34"/>
              </a:rPr>
              <a:t>SA_PASSWORD=YourStrong@Passw0rd</a:t>
            </a:r>
          </a:p>
          <a:p>
            <a:pPr marL="914400" lvl="2" indent="0">
              <a:buNone/>
            </a:pPr>
            <a:r>
              <a:rPr lang="en-US" sz="2400" dirty="0">
                <a:latin typeface="Browallia New" panose="020B0604020202020204" pitchFamily="34" charset="-34"/>
                <a:cs typeface="Browallia New" panose="020B0604020202020204" pitchFamily="34" charset="-34"/>
              </a:rPr>
              <a:t>ENV MSSQL_PID=Express</a:t>
            </a:r>
          </a:p>
          <a:p>
            <a:pPr marL="914400" lvl="2" indent="0">
              <a:buNone/>
            </a:pPr>
            <a:r>
              <a:rPr lang="en-US" sz="2400" dirty="0">
                <a:latin typeface="Browallia New" panose="020B0604020202020204" pitchFamily="34" charset="-34"/>
                <a:cs typeface="Browallia New" panose="020B0604020202020204" pitchFamily="34" charset="-34"/>
              </a:rPr>
              <a:t>EXPOSE 1433</a:t>
            </a:r>
          </a:p>
          <a:p>
            <a:r>
              <a:rPr lang="th-TH" sz="2900" dirty="0">
                <a:latin typeface="Browallia New" panose="020B0604020202020204" pitchFamily="34" charset="-34"/>
                <a:cs typeface="Browallia New" panose="020B0604020202020204" pitchFamily="34" charset="-34"/>
              </a:rPr>
              <a:t>เข้า </a:t>
            </a:r>
            <a:r>
              <a:rPr lang="en-US" sz="2900" dirty="0">
                <a:latin typeface="Browallia New" panose="020B0604020202020204" pitchFamily="34" charset="-34"/>
                <a:cs typeface="Browallia New" panose="020B0604020202020204" pitchFamily="34" charset="-34"/>
              </a:rPr>
              <a:t>path folder </a:t>
            </a:r>
            <a:r>
              <a:rPr lang="th-TH" sz="2900" dirty="0">
                <a:latin typeface="Browallia New" panose="020B0604020202020204" pitchFamily="34" charset="-34"/>
                <a:cs typeface="Browallia New" panose="020B0604020202020204" pitchFamily="34" charset="-34"/>
              </a:rPr>
              <a:t>ที่ส่งให้ รันคำสั่ง </a:t>
            </a:r>
            <a:r>
              <a:rPr lang="en-US" sz="2900" dirty="0">
                <a:latin typeface="Browallia New" panose="020B0604020202020204" pitchFamily="34" charset="-34"/>
                <a:cs typeface="Browallia New" panose="020B0604020202020204" pitchFamily="34" charset="-34"/>
              </a:rPr>
              <a:t/>
            </a:r>
            <a:br>
              <a:rPr lang="en-US" sz="2900" dirty="0">
                <a:latin typeface="Browallia New" panose="020B0604020202020204" pitchFamily="34" charset="-34"/>
                <a:cs typeface="Browallia New" panose="020B0604020202020204" pitchFamily="34" charset="-34"/>
              </a:rPr>
            </a:br>
            <a:r>
              <a:rPr lang="en-US" sz="2900" dirty="0">
                <a:latin typeface="Browallia New" panose="020B0604020202020204" pitchFamily="34" charset="-34"/>
                <a:cs typeface="Browallia New" panose="020B0604020202020204" pitchFamily="34" charset="-34"/>
              </a:rPr>
              <a:t>“</a:t>
            </a:r>
            <a:r>
              <a:rPr lang="en-US" sz="2900" dirty="0">
                <a:solidFill>
                  <a:srgbClr val="FF0000"/>
                </a:solidFill>
                <a:latin typeface="Browallia New" panose="020B0604020202020204" pitchFamily="34" charset="-34"/>
                <a:cs typeface="Browallia New" panose="020B0604020202020204" pitchFamily="34" charset="-34"/>
              </a:rPr>
              <a:t>docker build -f </a:t>
            </a:r>
            <a:r>
              <a:rPr lang="en-US" sz="2900" dirty="0" err="1">
                <a:solidFill>
                  <a:srgbClr val="FF0000"/>
                </a:solidFill>
                <a:latin typeface="Browallia New" panose="020B0604020202020204" pitchFamily="34" charset="-34"/>
                <a:cs typeface="Browallia New" panose="020B0604020202020204" pitchFamily="34" charset="-34"/>
              </a:rPr>
              <a:t>DockerContainer_MS_SQL.dockerfile</a:t>
            </a:r>
            <a:r>
              <a:rPr lang="en-US" sz="2900" dirty="0">
                <a:solidFill>
                  <a:srgbClr val="FF0000"/>
                </a:solidFill>
                <a:latin typeface="Browallia New" panose="020B0604020202020204" pitchFamily="34" charset="-34"/>
                <a:cs typeface="Browallia New" panose="020B0604020202020204" pitchFamily="34" charset="-34"/>
              </a:rPr>
              <a:t> -t my-</a:t>
            </a:r>
            <a:r>
              <a:rPr lang="en-US" sz="2900" dirty="0" err="1">
                <a:solidFill>
                  <a:srgbClr val="FF0000"/>
                </a:solidFill>
                <a:latin typeface="Browallia New" panose="020B0604020202020204" pitchFamily="34" charset="-34"/>
                <a:cs typeface="Browallia New" panose="020B0604020202020204" pitchFamily="34" charset="-34"/>
              </a:rPr>
              <a:t>mssql</a:t>
            </a:r>
            <a:r>
              <a:rPr lang="en-US" sz="2900" dirty="0">
                <a:solidFill>
                  <a:srgbClr val="FF0000"/>
                </a:solidFill>
                <a:latin typeface="Browallia New" panose="020B0604020202020204" pitchFamily="34" charset="-34"/>
                <a:cs typeface="Browallia New" panose="020B0604020202020204" pitchFamily="34" charset="-34"/>
              </a:rPr>
              <a:t>-image .</a:t>
            </a:r>
            <a:r>
              <a:rPr lang="en-US" sz="2900" dirty="0">
                <a:latin typeface="Browallia New" panose="020B0604020202020204" pitchFamily="34" charset="-34"/>
                <a:cs typeface="Browallia New" panose="020B0604020202020204" pitchFamily="34" charset="-34"/>
              </a:rPr>
              <a:t>” </a:t>
            </a:r>
            <a:br>
              <a:rPr lang="en-US" sz="2900" dirty="0">
                <a:latin typeface="Browallia New" panose="020B0604020202020204" pitchFamily="34" charset="-34"/>
                <a:cs typeface="Browallia New" panose="020B0604020202020204" pitchFamily="34" charset="-34"/>
              </a:rPr>
            </a:br>
            <a:r>
              <a:rPr lang="th-TH" sz="2900" dirty="0">
                <a:latin typeface="Browallia New" panose="020B0604020202020204" pitchFamily="34" charset="-34"/>
                <a:cs typeface="Browallia New" panose="020B0604020202020204" pitchFamily="34" charset="-34"/>
              </a:rPr>
              <a:t>เพื่อสร้าง </a:t>
            </a:r>
            <a:r>
              <a:rPr lang="en-US" sz="2900" dirty="0">
                <a:latin typeface="Browallia New" panose="020B0604020202020204" pitchFamily="34" charset="-34"/>
                <a:cs typeface="Browallia New" panose="020B0604020202020204" pitchFamily="34" charset="-34"/>
              </a:rPr>
              <a:t>Docker Image </a:t>
            </a:r>
            <a:r>
              <a:rPr lang="en-US" sz="3400" dirty="0">
                <a:latin typeface="Browallia New" panose="020B0604020202020204" pitchFamily="34" charset="-34"/>
                <a:cs typeface="Browallia New" panose="020B0604020202020204" pitchFamily="34" charset="-34"/>
              </a:rPr>
              <a:t>(</a:t>
            </a:r>
            <a:r>
              <a:rPr lang="th-TH" sz="2600" dirty="0">
                <a:latin typeface="Browallia New" panose="020B0604020202020204" pitchFamily="34" charset="-34"/>
                <a:cs typeface="Browallia New" panose="020B0604020202020204" pitchFamily="34" charset="-34"/>
              </a:rPr>
              <a:t>ใน </a:t>
            </a:r>
            <a:r>
              <a:rPr lang="en-US" sz="2600" dirty="0">
                <a:latin typeface="Browallia New" panose="020B0604020202020204" pitchFamily="34" charset="-34"/>
                <a:cs typeface="Browallia New" panose="020B0604020202020204" pitchFamily="34" charset="-34"/>
              </a:rPr>
              <a:t>path</a:t>
            </a:r>
            <a:r>
              <a:rPr lang="th-TH" sz="2600" dirty="0">
                <a:latin typeface="Browallia New" panose="020B0604020202020204" pitchFamily="34" charset="-34"/>
                <a:cs typeface="Browallia New" panose="020B0604020202020204" pitchFamily="34" charset="-34"/>
              </a:rPr>
              <a:t>ที่สร้างไฟล์ใน</a:t>
            </a:r>
            <a:r>
              <a:rPr lang="en-US" sz="2600" dirty="0">
                <a:latin typeface="Browallia New" panose="020B0604020202020204" pitchFamily="34" charset="-34"/>
                <a:cs typeface="Browallia New" panose="020B0604020202020204" pitchFamily="34" charset="-34"/>
              </a:rPr>
              <a:t> folder</a:t>
            </a:r>
            <a:r>
              <a:rPr lang="th-TH" sz="4000" dirty="0">
                <a:latin typeface="Browallia New" panose="020B0604020202020204" pitchFamily="34" charset="-34"/>
                <a:cs typeface="Browallia New" panose="020B0604020202020204" pitchFamily="34" charset="-34"/>
              </a:rPr>
              <a:t>)</a:t>
            </a:r>
            <a:endParaRPr lang="en-US" sz="4000" dirty="0">
              <a:latin typeface="Browallia New" panose="020B0604020202020204" pitchFamily="34" charset="-34"/>
              <a:cs typeface="Browallia New" panose="020B0604020202020204" pitchFamily="34" charset="-34"/>
            </a:endParaRPr>
          </a:p>
          <a:p>
            <a:r>
              <a:rPr lang="th-TH" sz="3200" dirty="0">
                <a:latin typeface="Browallia New" panose="020B0604020202020204" pitchFamily="34" charset="-34"/>
                <a:cs typeface="Browallia New" panose="020B0604020202020204" pitchFamily="34" charset="-34"/>
              </a:rPr>
              <a:t>รัน</a:t>
            </a:r>
            <a:r>
              <a:rPr lang="en-US" sz="3200" dirty="0">
                <a:latin typeface="Browallia New" panose="020B0604020202020204" pitchFamily="34" charset="-34"/>
                <a:cs typeface="Browallia New" panose="020B0604020202020204" pitchFamily="34" charset="-34"/>
              </a:rPr>
              <a:t> Docker Image </a:t>
            </a:r>
            <a:r>
              <a:rPr lang="th-TH" sz="3200" dirty="0">
                <a:latin typeface="Browallia New" panose="020B0604020202020204" pitchFamily="34" charset="-34"/>
                <a:cs typeface="Browallia New" panose="020B0604020202020204" pitchFamily="34" charset="-34"/>
              </a:rPr>
              <a:t>ที่สร้างเพื่อ </a:t>
            </a:r>
            <a:r>
              <a:rPr lang="en-US" sz="3200" dirty="0">
                <a:latin typeface="Browallia New" panose="020B0604020202020204" pitchFamily="34" charset="-34"/>
                <a:cs typeface="Browallia New" panose="020B0604020202020204" pitchFamily="34" charset="-34"/>
              </a:rPr>
              <a:t>start SQL DB Server Container</a:t>
            </a:r>
            <a:br>
              <a:rPr lang="en-US" sz="3200" dirty="0">
                <a:latin typeface="Browallia New" panose="020B0604020202020204" pitchFamily="34" charset="-34"/>
                <a:cs typeface="Browallia New" panose="020B0604020202020204" pitchFamily="34" charset="-34"/>
              </a:rPr>
            </a:br>
            <a:r>
              <a:rPr lang="th-TH" sz="3200" dirty="0">
                <a:latin typeface="Browallia New" panose="020B0604020202020204" pitchFamily="34" charset="-34"/>
                <a:cs typeface="Browallia New" panose="020B0604020202020204" pitchFamily="34" charset="-34"/>
              </a:rPr>
              <a:t>ด้วยคำสั่ง </a:t>
            </a:r>
            <a:r>
              <a:rPr lang="en-US" sz="3200" dirty="0">
                <a:latin typeface="Browallia New" panose="020B0604020202020204" pitchFamily="34" charset="-34"/>
                <a:cs typeface="Browallia New" panose="020B0604020202020204" pitchFamily="34" charset="-34"/>
              </a:rPr>
              <a:t>“docker run -d --name </a:t>
            </a:r>
            <a:r>
              <a:rPr lang="en-US" sz="3200" dirty="0" err="1">
                <a:latin typeface="Browallia New" panose="020B0604020202020204" pitchFamily="34" charset="-34"/>
                <a:cs typeface="Browallia New" panose="020B0604020202020204" pitchFamily="34" charset="-34"/>
              </a:rPr>
              <a:t>sql</a:t>
            </a:r>
            <a:r>
              <a:rPr lang="en-US" sz="3200" dirty="0">
                <a:latin typeface="Browallia New" panose="020B0604020202020204" pitchFamily="34" charset="-34"/>
                <a:cs typeface="Browallia New" panose="020B0604020202020204" pitchFamily="34" charset="-34"/>
              </a:rPr>
              <a:t>-server --network mynetwork1 -e "ACCEPT_EULA=Y" -e "SA_PASSWORD=YourStrong@Passw0rd" -p 1433:1433 </a:t>
            </a:r>
            <a:r>
              <a:rPr lang="en-US" sz="3400" b="1" dirty="0">
                <a:solidFill>
                  <a:srgbClr val="7030A0"/>
                </a:solidFill>
              </a:rPr>
              <a:t>-m 4g </a:t>
            </a:r>
            <a:r>
              <a:rPr lang="en-US" sz="3400" b="1" dirty="0" smtClean="0">
                <a:solidFill>
                  <a:srgbClr val="7030A0"/>
                </a:solidFill>
              </a:rPr>
              <a:t> </a:t>
            </a:r>
            <a:r>
              <a:rPr lang="en-US" sz="3200" dirty="0" smtClean="0">
                <a:solidFill>
                  <a:srgbClr val="FF0000"/>
                </a:solidFill>
                <a:latin typeface="Browallia New" panose="020B0604020202020204" pitchFamily="34" charset="-34"/>
                <a:cs typeface="Browallia New" panose="020B0604020202020204" pitchFamily="34" charset="-34"/>
              </a:rPr>
              <a:t>my-</a:t>
            </a:r>
            <a:r>
              <a:rPr lang="en-US" sz="3200" dirty="0" err="1" smtClean="0">
                <a:solidFill>
                  <a:srgbClr val="FF0000"/>
                </a:solidFill>
                <a:latin typeface="Browallia New" panose="020B0604020202020204" pitchFamily="34" charset="-34"/>
                <a:cs typeface="Browallia New" panose="020B0604020202020204" pitchFamily="34" charset="-34"/>
              </a:rPr>
              <a:t>mssql</a:t>
            </a:r>
            <a:r>
              <a:rPr lang="en-US" sz="3200" dirty="0" smtClean="0">
                <a:solidFill>
                  <a:srgbClr val="FF0000"/>
                </a:solidFill>
                <a:latin typeface="Browallia New" panose="020B0604020202020204" pitchFamily="34" charset="-34"/>
                <a:cs typeface="Browallia New" panose="020B0604020202020204" pitchFamily="34" charset="-34"/>
              </a:rPr>
              <a:t>-image</a:t>
            </a:r>
            <a:r>
              <a:rPr lang="en-US" sz="3200" dirty="0">
                <a:latin typeface="Browallia New" panose="020B0604020202020204" pitchFamily="34" charset="-34"/>
                <a:cs typeface="Browallia New" panose="020B0604020202020204" pitchFamily="34" charset="-34"/>
              </a:rPr>
              <a:t>”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2918" y="1156561"/>
            <a:ext cx="5070462" cy="79740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42814" y="2072024"/>
            <a:ext cx="4442484" cy="2542017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4"/>
          <a:srcRect b="16096"/>
          <a:stretch/>
        </p:blipFill>
        <p:spPr>
          <a:xfrm>
            <a:off x="3682531" y="5908574"/>
            <a:ext cx="5430008" cy="727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81528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dirty="0"/>
              <a:t>ผลหลังจากรันคำสั่งต่างๆเพื่อสร้าง </a:t>
            </a:r>
            <a:r>
              <a:rPr lang="en-US" dirty="0"/>
              <a:t>SQL Server Container </a:t>
            </a:r>
            <a:r>
              <a:rPr lang="th-TH" dirty="0"/>
              <a:t>ดูจาก </a:t>
            </a:r>
            <a:r>
              <a:rPr lang="en-US" dirty="0"/>
              <a:t>Docker Desktop </a:t>
            </a:r>
            <a:r>
              <a:rPr lang="th-TH" dirty="0"/>
              <a:t>จะได้ผลดังนี้</a:t>
            </a:r>
            <a:r>
              <a:rPr lang="en-US" dirty="0"/>
              <a:t> 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68267" y="1825625"/>
            <a:ext cx="7655466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5055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9742" y="1534886"/>
            <a:ext cx="7922258" cy="53231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199" y="365125"/>
            <a:ext cx="11009811" cy="1325563"/>
          </a:xfrm>
        </p:spPr>
        <p:txBody>
          <a:bodyPr>
            <a:normAutofit fontScale="90000"/>
          </a:bodyPr>
          <a:lstStyle/>
          <a:p>
            <a:r>
              <a:rPr lang="th-TH" dirty="0"/>
              <a:t>ทดสอบ </a:t>
            </a:r>
            <a:r>
              <a:rPr lang="en-US" dirty="0"/>
              <a:t>Connect </a:t>
            </a:r>
            <a:r>
              <a:rPr lang="th-TH" dirty="0"/>
              <a:t>เข้า </a:t>
            </a:r>
            <a:r>
              <a:rPr lang="en-US" dirty="0"/>
              <a:t>SQL Server Container </a:t>
            </a:r>
            <a:r>
              <a:rPr lang="th-TH" dirty="0"/>
              <a:t>โดยใช้ </a:t>
            </a:r>
            <a:r>
              <a:rPr lang="en-US" dirty="0"/>
              <a:t>SSMS </a:t>
            </a:r>
            <a:r>
              <a:rPr lang="th-TH" dirty="0"/>
              <a:t>ในการ </a:t>
            </a:r>
            <a:r>
              <a:rPr lang="en-US" dirty="0"/>
              <a:t>Manage DB </a:t>
            </a:r>
            <a:r>
              <a:rPr lang="en-US" sz="4000" dirty="0">
                <a:solidFill>
                  <a:srgbClr val="FF0000"/>
                </a:solidFill>
              </a:rPr>
              <a:t>(</a:t>
            </a:r>
            <a:r>
              <a:rPr lang="th-TH" sz="4000" dirty="0">
                <a:solidFill>
                  <a:srgbClr val="FF0000"/>
                </a:solidFill>
              </a:rPr>
              <a:t>ติดตั้ง</a:t>
            </a:r>
            <a:r>
              <a:rPr lang="en-US" sz="4000" dirty="0">
                <a:solidFill>
                  <a:srgbClr val="FF0000"/>
                </a:solidFill>
              </a:rPr>
              <a:t> </a:t>
            </a:r>
            <a:r>
              <a:rPr lang="en-US" sz="4000" dirty="0" smtClean="0">
                <a:solidFill>
                  <a:srgbClr val="FF0000"/>
                </a:solidFill>
              </a:rPr>
              <a:t>SSMS-Setup-ENU.exe </a:t>
            </a:r>
            <a:r>
              <a:rPr lang="th-TH" sz="4000" dirty="0" smtClean="0">
                <a:solidFill>
                  <a:srgbClr val="FF0000"/>
                </a:solidFill>
              </a:rPr>
              <a:t>ถ้า</a:t>
            </a:r>
            <a:r>
              <a:rPr lang="th-TH" sz="4000" dirty="0">
                <a:solidFill>
                  <a:srgbClr val="FF0000"/>
                </a:solidFill>
              </a:rPr>
              <a:t>มีก็ไม่ต้องลง</a:t>
            </a:r>
            <a:r>
              <a:rPr lang="en-US" sz="4000" dirty="0">
                <a:solidFill>
                  <a:srgbClr val="FF0000"/>
                </a:solidFill>
              </a:rPr>
              <a:t>)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00360" cy="4351338"/>
          </a:xfrm>
        </p:spPr>
        <p:txBody>
          <a:bodyPr/>
          <a:lstStyle/>
          <a:p>
            <a:r>
              <a:rPr lang="en-US" dirty="0"/>
              <a:t>Login </a:t>
            </a:r>
            <a:r>
              <a:rPr lang="th-TH" dirty="0"/>
              <a:t>ด้วยรายละเอียดดังรูป</a:t>
            </a:r>
            <a:endParaRPr lang="en-US" dirty="0"/>
          </a:p>
          <a:p>
            <a:pPr marL="0" indent="0">
              <a:buNone/>
            </a:pPr>
            <a:r>
              <a:rPr lang="en-US" sz="1800" dirty="0" smtClean="0"/>
              <a:t>Server name: localhost,1433</a:t>
            </a:r>
            <a:endParaRPr lang="th-TH" sz="1800" dirty="0" smtClean="0"/>
          </a:p>
          <a:p>
            <a:pPr marL="0" indent="0">
              <a:buNone/>
            </a:pPr>
            <a:r>
              <a:rPr lang="en-US" sz="1800" dirty="0" smtClean="0"/>
              <a:t>Login </a:t>
            </a:r>
            <a:r>
              <a:rPr lang="en-US" sz="1800" dirty="0"/>
              <a:t>: </a:t>
            </a:r>
            <a:r>
              <a:rPr lang="en-US" sz="1800" dirty="0" err="1"/>
              <a:t>sa</a:t>
            </a:r>
            <a:endParaRPr lang="en-US" sz="1800" dirty="0"/>
          </a:p>
          <a:p>
            <a:pPr marL="0" indent="0">
              <a:buNone/>
            </a:pPr>
            <a:r>
              <a:rPr lang="en-US" sz="1800" dirty="0"/>
              <a:t>Password : YourStrong@Passw0rd</a:t>
            </a:r>
          </a:p>
          <a:p>
            <a:pPr marL="0" indent="0">
              <a:buNone/>
            </a:pPr>
            <a:r>
              <a:rPr lang="en-US" sz="1400" dirty="0" smtClean="0"/>
              <a:t>Encryption: </a:t>
            </a:r>
            <a:r>
              <a:rPr lang="th-TH" sz="1400" dirty="0" smtClean="0"/>
              <a:t>ให้</a:t>
            </a:r>
            <a:r>
              <a:rPr lang="th-TH" sz="1400" dirty="0"/>
              <a:t>เลือก </a:t>
            </a:r>
            <a:r>
              <a:rPr lang="en-US" sz="1400" dirty="0"/>
              <a:t>Mandatory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8195" y="1534886"/>
            <a:ext cx="4572638" cy="5268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70632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"/>
            <a:ext cx="12192000" cy="6766560"/>
          </a:xfrm>
        </p:spPr>
        <p:txBody>
          <a:bodyPr>
            <a:noAutofit/>
          </a:bodyPr>
          <a:lstStyle/>
          <a:p>
            <a:r>
              <a:rPr lang="th-TH" sz="1800" dirty="0"/>
              <a:t>สร้างไฟล์ </a:t>
            </a:r>
            <a:r>
              <a:rPr lang="en-US" sz="1800" dirty="0" err="1"/>
              <a:t>docker</a:t>
            </a:r>
            <a:r>
              <a:rPr lang="en-US" sz="1800" dirty="0"/>
              <a:t> file </a:t>
            </a:r>
            <a:r>
              <a:rPr lang="th-TH" sz="1800" dirty="0"/>
              <a:t>ชื่อ </a:t>
            </a:r>
            <a:r>
              <a:rPr lang="en-US" sz="1800" dirty="0"/>
              <a:t>“</a:t>
            </a:r>
            <a:r>
              <a:rPr lang="en-US" sz="1800" dirty="0" err="1"/>
              <a:t>DockerContainer_Tomcat.dockerfile</a:t>
            </a:r>
            <a:r>
              <a:rPr lang="en-US" sz="1800" dirty="0"/>
              <a:t>” </a:t>
            </a:r>
            <a:r>
              <a:rPr lang="th-TH" sz="1800" dirty="0"/>
              <a:t>สำหรับ </a:t>
            </a:r>
            <a:r>
              <a:rPr lang="en-US" sz="1800" dirty="0"/>
              <a:t>Build Container for Tomcat Server </a:t>
            </a:r>
            <a:r>
              <a:rPr lang="th-TH" sz="1800" dirty="0"/>
              <a:t>และเปิด</a:t>
            </a:r>
            <a:r>
              <a:rPr lang="en-US" sz="1800" dirty="0"/>
              <a:t> port 8081 </a:t>
            </a:r>
            <a:r>
              <a:rPr lang="th-TH" sz="1800" dirty="0"/>
              <a:t>สำหรับ ใช้ติดต่อ </a:t>
            </a:r>
            <a:r>
              <a:rPr lang="en-US" sz="1800" dirty="0"/>
              <a:t>Tomcat Web Server </a:t>
            </a:r>
            <a:r>
              <a:rPr lang="th-TH" sz="1800" dirty="0"/>
              <a:t>ดังนี้ </a:t>
            </a:r>
            <a:r>
              <a:rPr lang="en-US" sz="1800" dirty="0"/>
              <a:t> </a:t>
            </a:r>
            <a:r>
              <a:rPr lang="en-US" sz="1800" dirty="0">
                <a:solidFill>
                  <a:srgbClr val="FF0000"/>
                </a:solidFill>
              </a:rPr>
              <a:t>(</a:t>
            </a:r>
            <a:r>
              <a:rPr lang="th-TH" sz="1800" dirty="0">
                <a:solidFill>
                  <a:srgbClr val="FF0000"/>
                </a:solidFill>
              </a:rPr>
              <a:t>สร้างให้แล้วอยู่ใน </a:t>
            </a:r>
            <a:r>
              <a:rPr lang="en-US" sz="1800" dirty="0">
                <a:solidFill>
                  <a:srgbClr val="FF0000"/>
                </a:solidFill>
              </a:rPr>
              <a:t>folder</a:t>
            </a:r>
            <a:r>
              <a:rPr lang="th-TH" sz="1800" dirty="0">
                <a:solidFill>
                  <a:srgbClr val="FF0000"/>
                </a:solidFill>
              </a:rPr>
              <a:t> ที่ส่งให้)</a:t>
            </a:r>
          </a:p>
          <a:p>
            <a:pPr marL="0" indent="0">
              <a:buNone/>
            </a:pPr>
            <a:r>
              <a:rPr lang="en-US" sz="1600" dirty="0"/>
              <a:t># Use the official Tomcat image</a:t>
            </a:r>
            <a:endParaRPr lang="th-TH" sz="1600" dirty="0"/>
          </a:p>
          <a:p>
            <a:pPr marL="0" indent="0">
              <a:buNone/>
            </a:pPr>
            <a:r>
              <a:rPr lang="en-US" sz="1600" dirty="0"/>
              <a:t>FROM tomcat:10.1-jdk17</a:t>
            </a:r>
            <a:endParaRPr lang="th-TH" sz="1600" dirty="0"/>
          </a:p>
          <a:p>
            <a:pPr marL="0" indent="0">
              <a:buNone/>
            </a:pPr>
            <a:endParaRPr lang="th-TH" sz="1600" dirty="0"/>
          </a:p>
          <a:p>
            <a:pPr marL="0" indent="0">
              <a:buNone/>
            </a:pPr>
            <a:r>
              <a:rPr lang="en-US" sz="1600" dirty="0"/>
              <a:t># Change the default port from 8080 to 8081</a:t>
            </a:r>
            <a:endParaRPr lang="th-TH" sz="1600" dirty="0"/>
          </a:p>
          <a:p>
            <a:pPr marL="0" indent="0">
              <a:buNone/>
            </a:pPr>
            <a:r>
              <a:rPr lang="en-US" sz="1600" dirty="0"/>
              <a:t>RUN </a:t>
            </a:r>
            <a:r>
              <a:rPr lang="en-US" sz="1600" dirty="0" err="1"/>
              <a:t>sed</a:t>
            </a:r>
            <a:r>
              <a:rPr lang="en-US" sz="1600" dirty="0"/>
              <a:t> -</a:t>
            </a:r>
            <a:r>
              <a:rPr lang="en-US" sz="1600" dirty="0" err="1"/>
              <a:t>i</a:t>
            </a:r>
            <a:r>
              <a:rPr lang="en-US" sz="1600" dirty="0"/>
              <a:t> 's/8080/8081/g' /</a:t>
            </a:r>
            <a:r>
              <a:rPr lang="en-US" sz="1600" dirty="0" err="1"/>
              <a:t>usr</a:t>
            </a:r>
            <a:r>
              <a:rPr lang="en-US" sz="1600" dirty="0"/>
              <a:t>/local/tomcat/</a:t>
            </a:r>
            <a:r>
              <a:rPr lang="en-US" sz="1600" dirty="0" err="1"/>
              <a:t>conf</a:t>
            </a:r>
            <a:r>
              <a:rPr lang="en-US" sz="1600" dirty="0"/>
              <a:t>/server.xml</a:t>
            </a:r>
            <a:endParaRPr lang="th-TH" sz="1600" dirty="0"/>
          </a:p>
          <a:p>
            <a:pPr marL="0" indent="0">
              <a:buNone/>
            </a:pPr>
            <a:endParaRPr lang="th-TH" sz="1600" dirty="0"/>
          </a:p>
          <a:p>
            <a:pPr marL="0" indent="0">
              <a:buNone/>
            </a:pPr>
            <a:r>
              <a:rPr lang="en-US" sz="1600" dirty="0"/>
              <a:t># Expose the new port</a:t>
            </a:r>
            <a:endParaRPr lang="th-TH" sz="1600" dirty="0"/>
          </a:p>
          <a:p>
            <a:pPr marL="0" indent="0">
              <a:buNone/>
            </a:pPr>
            <a:r>
              <a:rPr lang="en-US" sz="1600" dirty="0"/>
              <a:t>EXPOSE 8081</a:t>
            </a:r>
            <a:endParaRPr lang="th-TH" sz="1600" dirty="0"/>
          </a:p>
          <a:p>
            <a:pPr marL="0" indent="0">
              <a:buNone/>
            </a:pPr>
            <a:endParaRPr lang="th-TH" sz="1600" dirty="0"/>
          </a:p>
          <a:p>
            <a:pPr marL="0" indent="0">
              <a:buNone/>
            </a:pPr>
            <a:r>
              <a:rPr lang="en-US" sz="1600" dirty="0"/>
              <a:t># Start Tomcat</a:t>
            </a:r>
            <a:endParaRPr lang="th-TH" sz="1600" dirty="0"/>
          </a:p>
          <a:p>
            <a:pPr marL="0" indent="0">
              <a:buNone/>
            </a:pPr>
            <a:r>
              <a:rPr lang="en-US" sz="1600" dirty="0"/>
              <a:t>CMD ["catalina.sh", "run"]</a:t>
            </a:r>
            <a:endParaRPr lang="th-TH" sz="1800" dirty="0">
              <a:latin typeface="Browallia New" panose="020B0604020202020204" pitchFamily="34" charset="-34"/>
              <a:cs typeface="Browallia New" panose="020B0604020202020204" pitchFamily="34" charset="-34"/>
            </a:endParaRPr>
          </a:p>
          <a:p>
            <a:r>
              <a:rPr lang="th-TH" sz="2400" dirty="0">
                <a:latin typeface="Browallia New" panose="020B0604020202020204" pitchFamily="34" charset="-34"/>
                <a:cs typeface="Browallia New" panose="020B0604020202020204" pitchFamily="34" charset="-34"/>
              </a:rPr>
              <a:t>เปิดหน้าต่าง </a:t>
            </a:r>
            <a:r>
              <a:rPr lang="en-US" sz="2400" dirty="0">
                <a:latin typeface="Browallia New" panose="020B0604020202020204" pitchFamily="34" charset="-34"/>
                <a:cs typeface="Browallia New" panose="020B0604020202020204" pitchFamily="34" charset="-34"/>
              </a:rPr>
              <a:t>CMD </a:t>
            </a:r>
            <a:r>
              <a:rPr lang="th-TH" sz="2400" dirty="0">
                <a:latin typeface="Browallia New" panose="020B0604020202020204" pitchFamily="34" charset="-34"/>
                <a:cs typeface="Browallia New" panose="020B0604020202020204" pitchFamily="34" charset="-34"/>
              </a:rPr>
              <a:t>แล้ว รันคำสั่ง </a:t>
            </a:r>
            <a:r>
              <a:rPr lang="en-US" sz="2400" dirty="0">
                <a:latin typeface="Browallia New" panose="020B0604020202020204" pitchFamily="34" charset="-34"/>
                <a:cs typeface="Browallia New" panose="020B0604020202020204" pitchFamily="34" charset="-34"/>
              </a:rPr>
              <a:t>“</a:t>
            </a:r>
            <a:r>
              <a:rPr lang="en-US" sz="2400" dirty="0" err="1">
                <a:solidFill>
                  <a:srgbClr val="FF0000"/>
                </a:solidFill>
                <a:latin typeface="Browallia New" panose="020B0604020202020204" pitchFamily="34" charset="-34"/>
                <a:cs typeface="Browallia New" panose="020B0604020202020204" pitchFamily="34" charset="-34"/>
              </a:rPr>
              <a:t>docker</a:t>
            </a:r>
            <a:r>
              <a:rPr lang="en-US" sz="2400" dirty="0">
                <a:solidFill>
                  <a:srgbClr val="FF0000"/>
                </a:solidFill>
                <a:latin typeface="Browallia New" panose="020B0604020202020204" pitchFamily="34" charset="-34"/>
                <a:cs typeface="Browallia New" panose="020B0604020202020204" pitchFamily="34" charset="-34"/>
              </a:rPr>
              <a:t> build -f </a:t>
            </a:r>
            <a:r>
              <a:rPr lang="en-US" sz="2400" dirty="0" err="1">
                <a:solidFill>
                  <a:srgbClr val="FF0000"/>
                </a:solidFill>
                <a:latin typeface="Browallia New" panose="020B0604020202020204" pitchFamily="34" charset="-34"/>
                <a:cs typeface="Browallia New" panose="020B0604020202020204" pitchFamily="34" charset="-34"/>
              </a:rPr>
              <a:t>DockerContainer_Tomcat.dockerfile</a:t>
            </a:r>
            <a:r>
              <a:rPr lang="en-US" sz="2400" dirty="0">
                <a:solidFill>
                  <a:srgbClr val="FF0000"/>
                </a:solidFill>
                <a:latin typeface="Browallia New" panose="020B0604020202020204" pitchFamily="34" charset="-34"/>
                <a:cs typeface="Browallia New" panose="020B0604020202020204" pitchFamily="34" charset="-34"/>
              </a:rPr>
              <a:t>  -t my-tomcat-image .</a:t>
            </a:r>
            <a:r>
              <a:rPr lang="en-US" sz="2400" dirty="0">
                <a:latin typeface="Browallia New" panose="020B0604020202020204" pitchFamily="34" charset="-34"/>
                <a:cs typeface="Browallia New" panose="020B0604020202020204" pitchFamily="34" charset="-34"/>
              </a:rPr>
              <a:t>” </a:t>
            </a:r>
            <a:r>
              <a:rPr lang="th-TH" sz="2400" dirty="0">
                <a:latin typeface="Browallia New" panose="020B0604020202020204" pitchFamily="34" charset="-34"/>
                <a:cs typeface="Browallia New" panose="020B0604020202020204" pitchFamily="34" charset="-34"/>
              </a:rPr>
              <a:t>เพื่อสร้าง </a:t>
            </a:r>
            <a:r>
              <a:rPr lang="en-US" sz="2400" dirty="0">
                <a:latin typeface="Browallia New" panose="020B0604020202020204" pitchFamily="34" charset="-34"/>
                <a:cs typeface="Browallia New" panose="020B0604020202020204" pitchFamily="34" charset="-34"/>
              </a:rPr>
              <a:t>Tomcat Docker Image</a:t>
            </a:r>
            <a:endParaRPr lang="th-TH" sz="2400" dirty="0">
              <a:latin typeface="Browallia New" panose="020B0604020202020204" pitchFamily="34" charset="-34"/>
              <a:cs typeface="Browallia New" panose="020B0604020202020204" pitchFamily="34" charset="-34"/>
            </a:endParaRPr>
          </a:p>
          <a:p>
            <a:r>
              <a:rPr lang="th-TH" sz="2400" dirty="0">
                <a:latin typeface="Browallia New" panose="020B0604020202020204" pitchFamily="34" charset="-34"/>
                <a:cs typeface="Browallia New" panose="020B0604020202020204" pitchFamily="34" charset="-34"/>
              </a:rPr>
              <a:t>ในหน้าต่าง </a:t>
            </a:r>
            <a:r>
              <a:rPr lang="en-US" sz="2400" dirty="0">
                <a:latin typeface="Browallia New" panose="020B0604020202020204" pitchFamily="34" charset="-34"/>
                <a:cs typeface="Browallia New" panose="020B0604020202020204" pitchFamily="34" charset="-34"/>
              </a:rPr>
              <a:t>CMD </a:t>
            </a:r>
            <a:r>
              <a:rPr lang="th-TH" sz="2400" dirty="0">
                <a:latin typeface="Browallia New" panose="020B0604020202020204" pitchFamily="34" charset="-34"/>
                <a:cs typeface="Browallia New" panose="020B0604020202020204" pitchFamily="34" charset="-34"/>
              </a:rPr>
              <a:t>ให้รันคำสั่ง </a:t>
            </a:r>
            <a:r>
              <a:rPr lang="en-US" sz="2400" dirty="0">
                <a:latin typeface="Browallia New" panose="020B0604020202020204" pitchFamily="34" charset="-34"/>
                <a:cs typeface="Browallia New" panose="020B0604020202020204" pitchFamily="34" charset="-34"/>
              </a:rPr>
              <a:t>“</a:t>
            </a:r>
            <a:r>
              <a:rPr lang="en-US" sz="2400" b="1" dirty="0" err="1">
                <a:solidFill>
                  <a:srgbClr val="FF0000"/>
                </a:solidFill>
                <a:latin typeface="Browallia New" panose="020B0604020202020204" pitchFamily="34" charset="-34"/>
                <a:cs typeface="Browallia New" panose="020B0604020202020204" pitchFamily="34" charset="-34"/>
              </a:rPr>
              <a:t>docker</a:t>
            </a:r>
            <a:r>
              <a:rPr lang="en-US" sz="2400" b="1" dirty="0">
                <a:solidFill>
                  <a:srgbClr val="FF0000"/>
                </a:solidFill>
                <a:latin typeface="Browallia New" panose="020B0604020202020204" pitchFamily="34" charset="-34"/>
                <a:cs typeface="Browallia New" panose="020B0604020202020204" pitchFamily="34" charset="-34"/>
              </a:rPr>
              <a:t> run -d --name tomcat-container --network mynetwork1 -p 8081:8081 </a:t>
            </a:r>
            <a:r>
              <a:rPr lang="en-US" sz="2400" b="1" dirty="0" smtClean="0">
                <a:solidFill>
                  <a:srgbClr val="FF0000"/>
                </a:solidFill>
                <a:latin typeface="Browallia New" panose="020B0604020202020204" pitchFamily="34" charset="-34"/>
                <a:cs typeface="Browallia New" panose="020B0604020202020204" pitchFamily="34" charset="-34"/>
              </a:rPr>
              <a:t>my-tomcat-image</a:t>
            </a:r>
            <a:r>
              <a:rPr lang="en-US" sz="2400" dirty="0" smtClean="0">
                <a:latin typeface="Browallia New" panose="020B0604020202020204" pitchFamily="34" charset="-34"/>
                <a:cs typeface="Browallia New" panose="020B0604020202020204" pitchFamily="34" charset="-34"/>
              </a:rPr>
              <a:t>”  </a:t>
            </a:r>
            <a:r>
              <a:rPr lang="th-TH" sz="2400" dirty="0">
                <a:latin typeface="Browallia New" panose="020B0604020202020204" pitchFamily="34" charset="-34"/>
                <a:cs typeface="Browallia New" panose="020B0604020202020204" pitchFamily="34" charset="-34"/>
              </a:rPr>
              <a:t>เพื่อรัน </a:t>
            </a:r>
            <a:r>
              <a:rPr lang="en-US" sz="2400" dirty="0">
                <a:latin typeface="Browallia New" panose="020B0604020202020204" pitchFamily="34" charset="-34"/>
                <a:cs typeface="Browallia New" panose="020B0604020202020204" pitchFamily="34" charset="-34"/>
              </a:rPr>
              <a:t>Tomcat Container </a:t>
            </a:r>
            <a:r>
              <a:rPr lang="th-TH" sz="2400" dirty="0">
                <a:latin typeface="Browallia New" panose="020B0604020202020204" pitchFamily="34" charset="-34"/>
                <a:cs typeface="Browallia New" panose="020B0604020202020204" pitchFamily="34" charset="-34"/>
              </a:rPr>
              <a:t>ให้เริ่มทำงาน</a:t>
            </a:r>
            <a:r>
              <a:rPr lang="en-US" sz="2400" dirty="0">
                <a:latin typeface="Browallia New" panose="020B0604020202020204" pitchFamily="34" charset="-34"/>
                <a:cs typeface="Browallia New" panose="020B0604020202020204" pitchFamily="34" charset="-34"/>
              </a:rPr>
              <a:t> </a:t>
            </a:r>
            <a:r>
              <a:rPr lang="th-TH" sz="2400" dirty="0">
                <a:latin typeface="Browallia New" panose="020B0604020202020204" pitchFamily="34" charset="-34"/>
                <a:cs typeface="Browallia New" panose="020B0604020202020204" pitchFamily="34" charset="-34"/>
              </a:rPr>
              <a:t>จากนั้นทดลอง </a:t>
            </a:r>
            <a:r>
              <a:rPr lang="en-US" sz="2400" dirty="0">
                <a:latin typeface="Browallia New" panose="020B0604020202020204" pitchFamily="34" charset="-34"/>
                <a:cs typeface="Browallia New" panose="020B0604020202020204" pitchFamily="34" charset="-34"/>
              </a:rPr>
              <a:t>deploy war file </a:t>
            </a:r>
            <a:r>
              <a:rPr lang="th-TH" sz="2400" dirty="0">
                <a:latin typeface="Browallia New" panose="020B0604020202020204" pitchFamily="34" charset="-34"/>
                <a:cs typeface="Browallia New" panose="020B0604020202020204" pitchFamily="34" charset="-34"/>
              </a:rPr>
              <a:t>ชื่อ </a:t>
            </a:r>
            <a:r>
              <a:rPr lang="en-US" sz="2400" dirty="0">
                <a:latin typeface="Browallia New" panose="020B0604020202020204" pitchFamily="34" charset="-34"/>
                <a:cs typeface="Browallia New" panose="020B0604020202020204" pitchFamily="34" charset="-34"/>
                <a:hlinkClick r:id="rId2"/>
              </a:rPr>
              <a:t>“</a:t>
            </a:r>
            <a:r>
              <a:rPr lang="en-US" sz="2400" dirty="0" err="1">
                <a:latin typeface="Browallia New" panose="020B0604020202020204" pitchFamily="34" charset="-34"/>
                <a:cs typeface="Browallia New" panose="020B0604020202020204" pitchFamily="34" charset="-34"/>
                <a:hlinkClick r:id="rId2"/>
              </a:rPr>
              <a:t>sample.war</a:t>
            </a:r>
            <a:r>
              <a:rPr lang="en-US" sz="2400" dirty="0">
                <a:latin typeface="Browallia New" panose="020B0604020202020204" pitchFamily="34" charset="-34"/>
                <a:cs typeface="Browallia New" panose="020B0604020202020204" pitchFamily="34" charset="-34"/>
                <a:hlinkClick r:id="rId2"/>
              </a:rPr>
              <a:t>” </a:t>
            </a:r>
            <a:r>
              <a:rPr lang="en-US" sz="2400" dirty="0">
                <a:latin typeface="Browallia New" panose="020B0604020202020204" pitchFamily="34" charset="-34"/>
                <a:cs typeface="Browallia New" panose="020B0604020202020204" pitchFamily="34" charset="-34"/>
              </a:rPr>
              <a:t>(</a:t>
            </a:r>
            <a:r>
              <a:rPr lang="en-US" sz="2400" dirty="0">
                <a:latin typeface="Browallia New" panose="020B0604020202020204" pitchFamily="34" charset="-34"/>
                <a:cs typeface="Browallia New" panose="020B0604020202020204" pitchFamily="34" charset="-34"/>
                <a:hlinkClick r:id="rId2"/>
              </a:rPr>
              <a:t>https://tomcat.apache.org/tomcat-7.0-doc/appdev/sample/sample.war</a:t>
            </a:r>
            <a:r>
              <a:rPr lang="en-US" sz="2400" dirty="0">
                <a:latin typeface="Browallia New" panose="020B0604020202020204" pitchFamily="34" charset="-34"/>
                <a:cs typeface="Browallia New" panose="020B0604020202020204" pitchFamily="34" charset="-34"/>
              </a:rPr>
              <a:t>) </a:t>
            </a:r>
            <a:r>
              <a:rPr lang="th-TH" sz="2400" dirty="0">
                <a:latin typeface="Browallia New" panose="020B0604020202020204" pitchFamily="34" charset="-34"/>
                <a:cs typeface="Browallia New" panose="020B0604020202020204" pitchFamily="34" charset="-34"/>
              </a:rPr>
              <a:t>ไปที่ </a:t>
            </a:r>
            <a:r>
              <a:rPr lang="en-US" sz="2400" dirty="0">
                <a:latin typeface="Browallia New" panose="020B0604020202020204" pitchFamily="34" charset="-34"/>
                <a:cs typeface="Browallia New" panose="020B0604020202020204" pitchFamily="34" charset="-34"/>
              </a:rPr>
              <a:t>Tomcat Web Server Container </a:t>
            </a:r>
            <a:r>
              <a:rPr lang="th-TH" sz="2400" dirty="0">
                <a:latin typeface="Browallia New" panose="020B0604020202020204" pitchFamily="34" charset="-34"/>
                <a:cs typeface="Browallia New" panose="020B0604020202020204" pitchFamily="34" charset="-34"/>
              </a:rPr>
              <a:t>ด้วยคำสั่ง </a:t>
            </a:r>
            <a:r>
              <a:rPr lang="en-US" sz="2400" dirty="0">
                <a:latin typeface="Browallia New" panose="020B0604020202020204" pitchFamily="34" charset="-34"/>
                <a:cs typeface="Browallia New" panose="020B0604020202020204" pitchFamily="34" charset="-34"/>
              </a:rPr>
              <a:t>“</a:t>
            </a:r>
            <a:r>
              <a:rPr lang="en-US" sz="2400" dirty="0">
                <a:solidFill>
                  <a:srgbClr val="FF0000"/>
                </a:solidFill>
                <a:latin typeface="Browallia New" panose="020B0604020202020204" pitchFamily="34" charset="-34"/>
                <a:cs typeface="Browallia New" panose="020B0604020202020204" pitchFamily="34" charset="-34"/>
              </a:rPr>
              <a:t>docker cp </a:t>
            </a:r>
            <a:r>
              <a:rPr lang="en-US" sz="2400" dirty="0" err="1">
                <a:solidFill>
                  <a:srgbClr val="FF0000"/>
                </a:solidFill>
                <a:latin typeface="Browallia New" panose="020B0604020202020204" pitchFamily="34" charset="-34"/>
                <a:cs typeface="Browallia New" panose="020B0604020202020204" pitchFamily="34" charset="-34"/>
              </a:rPr>
              <a:t>sample.war</a:t>
            </a:r>
            <a:r>
              <a:rPr lang="en-US" sz="2400" dirty="0">
                <a:solidFill>
                  <a:srgbClr val="FF0000"/>
                </a:solidFill>
                <a:latin typeface="Browallia New" panose="020B0604020202020204" pitchFamily="34" charset="-34"/>
                <a:cs typeface="Browallia New" panose="020B0604020202020204" pitchFamily="34" charset="-34"/>
              </a:rPr>
              <a:t> tomcat-container1:/</a:t>
            </a:r>
            <a:r>
              <a:rPr lang="en-US" sz="2400" dirty="0" err="1">
                <a:solidFill>
                  <a:srgbClr val="FF0000"/>
                </a:solidFill>
                <a:latin typeface="Browallia New" panose="020B0604020202020204" pitchFamily="34" charset="-34"/>
                <a:cs typeface="Browallia New" panose="020B0604020202020204" pitchFamily="34" charset="-34"/>
              </a:rPr>
              <a:t>usr</a:t>
            </a:r>
            <a:r>
              <a:rPr lang="en-US" sz="2400" dirty="0">
                <a:solidFill>
                  <a:srgbClr val="FF0000"/>
                </a:solidFill>
                <a:latin typeface="Browallia New" panose="020B0604020202020204" pitchFamily="34" charset="-34"/>
                <a:cs typeface="Browallia New" panose="020B0604020202020204" pitchFamily="34" charset="-34"/>
              </a:rPr>
              <a:t>/local/tomcat/webapps/</a:t>
            </a:r>
            <a:r>
              <a:rPr lang="en-US" sz="2400" dirty="0">
                <a:latin typeface="Browallia New" panose="020B0604020202020204" pitchFamily="34" charset="-34"/>
                <a:cs typeface="Browallia New" panose="020B0604020202020204" pitchFamily="34" charset="-34"/>
              </a:rPr>
              <a:t>” </a:t>
            </a:r>
            <a:r>
              <a:rPr lang="th-TH" sz="2400" dirty="0">
                <a:latin typeface="Browallia New" panose="020B0604020202020204" pitchFamily="34" charset="-34"/>
                <a:cs typeface="Browallia New" panose="020B0604020202020204" pitchFamily="34" charset="-34"/>
              </a:rPr>
              <a:t>รอสัก</a:t>
            </a:r>
            <a:r>
              <a:rPr lang="en-US" sz="2400" dirty="0">
                <a:latin typeface="Browallia New" panose="020B0604020202020204" pitchFamily="34" charset="-34"/>
                <a:cs typeface="Browallia New" panose="020B0604020202020204" pitchFamily="34" charset="-34"/>
              </a:rPr>
              <a:t>  1 </a:t>
            </a:r>
            <a:r>
              <a:rPr lang="th-TH" sz="2400" dirty="0">
                <a:latin typeface="Browallia New" panose="020B0604020202020204" pitchFamily="34" charset="-34"/>
                <a:cs typeface="Browallia New" panose="020B0604020202020204" pitchFamily="34" charset="-34"/>
              </a:rPr>
              <a:t>นาที ทดสอบเปิด </a:t>
            </a:r>
            <a:r>
              <a:rPr lang="en-US" sz="2400" dirty="0">
                <a:latin typeface="Browallia New" panose="020B0604020202020204" pitchFamily="34" charset="-34"/>
                <a:cs typeface="Browallia New" panose="020B0604020202020204" pitchFamily="34" charset="-34"/>
              </a:rPr>
              <a:t>Browser URL: </a:t>
            </a:r>
            <a:r>
              <a:rPr lang="en-US" sz="2400" dirty="0">
                <a:solidFill>
                  <a:srgbClr val="FF0000"/>
                </a:solidFill>
                <a:latin typeface="Browallia New" panose="020B0604020202020204" pitchFamily="34" charset="-34"/>
                <a:cs typeface="Browallia New" panose="020B0604020202020204" pitchFamily="34" charset="-34"/>
                <a:hlinkClick r:id="rId3"/>
              </a:rPr>
              <a:t>http://localhost:8081/sample/</a:t>
            </a:r>
            <a:r>
              <a:rPr lang="en-US" sz="2400" dirty="0">
                <a:solidFill>
                  <a:srgbClr val="FF0000"/>
                </a:solidFill>
                <a:latin typeface="Browallia New" panose="020B0604020202020204" pitchFamily="34" charset="-34"/>
                <a:cs typeface="Browallia New" panose="020B0604020202020204" pitchFamily="34" charset="-34"/>
              </a:rPr>
              <a:t>  </a:t>
            </a:r>
          </a:p>
          <a:p>
            <a:endParaRPr lang="en-US" sz="24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4"/>
          <a:srcRect r="17702" b="5446"/>
          <a:stretch/>
        </p:blipFill>
        <p:spPr>
          <a:xfrm>
            <a:off x="5553891" y="235133"/>
            <a:ext cx="6492240" cy="416705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561704"/>
            <a:ext cx="5408023" cy="3840480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23414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dirty="0"/>
              <a:t>คำสั่ง </a:t>
            </a:r>
            <a:r>
              <a:rPr lang="en-US" dirty="0" err="1"/>
              <a:t>docker</a:t>
            </a:r>
            <a:r>
              <a:rPr lang="en-US" dirty="0"/>
              <a:t> commands </a:t>
            </a:r>
            <a:r>
              <a:rPr lang="th-TH" dirty="0"/>
              <a:t>สำหรับตรวจสอบ </a:t>
            </a:r>
            <a:r>
              <a:rPr lang="en-US" dirty="0"/>
              <a:t>Tomcat Container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“</a:t>
            </a:r>
            <a:r>
              <a:rPr lang="en-US" b="1" dirty="0" err="1">
                <a:latin typeface="TH Sarabun New" panose="020B0500040200020003" pitchFamily="34" charset="-34"/>
                <a:cs typeface="TH Sarabun New" panose="020B0500040200020003" pitchFamily="34" charset="-34"/>
              </a:rPr>
              <a:t>docker</a:t>
            </a:r>
            <a:r>
              <a:rPr lang="en-US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exec -it tomcat-container cat /</a:t>
            </a:r>
            <a:r>
              <a:rPr lang="en-US" b="1" dirty="0" err="1">
                <a:latin typeface="TH Sarabun New" panose="020B0500040200020003" pitchFamily="34" charset="-34"/>
                <a:cs typeface="TH Sarabun New" panose="020B0500040200020003" pitchFamily="34" charset="-34"/>
              </a:rPr>
              <a:t>usr</a:t>
            </a:r>
            <a:r>
              <a:rPr lang="en-US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/local/tomcat/</a:t>
            </a:r>
            <a:r>
              <a:rPr lang="en-US" b="1" dirty="0" err="1">
                <a:latin typeface="TH Sarabun New" panose="020B0500040200020003" pitchFamily="34" charset="-34"/>
                <a:cs typeface="TH Sarabun New" panose="020B0500040200020003" pitchFamily="34" charset="-34"/>
              </a:rPr>
              <a:t>conf</a:t>
            </a:r>
            <a:r>
              <a:rPr lang="en-US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/server.xml”</a:t>
            </a:r>
            <a:r>
              <a:rPr lang="th-TH" dirty="0">
                <a:latin typeface="TH Sarabun New" panose="020B0500040200020003" pitchFamily="34" charset="-34"/>
                <a:cs typeface="TH Sarabun New" panose="020B0500040200020003" pitchFamily="34" charset="-34"/>
              </a:rPr>
              <a:t/>
            </a:r>
            <a:br>
              <a:rPr lang="th-TH" dirty="0">
                <a:latin typeface="TH Sarabun New" panose="020B0500040200020003" pitchFamily="34" charset="-34"/>
                <a:cs typeface="TH Sarabun New" panose="020B0500040200020003" pitchFamily="34" charset="-34"/>
              </a:rPr>
            </a:br>
            <a:r>
              <a:rPr lang="th-TH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เป็นการรันคำสั่งเพื่อแสดงข้อมูลในไฟล์ </a:t>
            </a:r>
            <a:r>
              <a:rPr lang="en-US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server.xml </a:t>
            </a:r>
            <a:r>
              <a:rPr lang="th-TH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เพื่อดูว่า </a:t>
            </a:r>
            <a:r>
              <a:rPr lang="en-US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configuration </a:t>
            </a:r>
            <a:r>
              <a:rPr lang="th-TH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ของ </a:t>
            </a:r>
            <a:r>
              <a:rPr lang="en-US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Tomcat Server </a:t>
            </a:r>
            <a:r>
              <a:rPr lang="th-TH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ถูกต้องหรือไม่ เช่น กำหนด </a:t>
            </a:r>
            <a:r>
              <a:rPr lang="en-US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port </a:t>
            </a:r>
            <a:r>
              <a:rPr lang="th-TH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เป็น </a:t>
            </a:r>
            <a:r>
              <a:rPr lang="en-US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8081 </a:t>
            </a:r>
            <a:r>
              <a:rPr lang="th-TH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หรือไม่</a:t>
            </a:r>
            <a:r>
              <a:rPr lang="en-US" dirty="0">
                <a:latin typeface="TH Sarabun New" panose="020B0500040200020003" pitchFamily="34" charset="-34"/>
                <a:cs typeface="TH Sarabun New" panose="020B0500040200020003" pitchFamily="34" charset="-34"/>
              </a:rPr>
              <a:t/>
            </a:r>
            <a:br>
              <a:rPr lang="en-US" dirty="0">
                <a:latin typeface="TH Sarabun New" panose="020B0500040200020003" pitchFamily="34" charset="-34"/>
                <a:cs typeface="TH Sarabun New" panose="020B0500040200020003" pitchFamily="34" charset="-34"/>
              </a:rPr>
            </a:br>
            <a:r>
              <a:rPr lang="en-US" dirty="0">
                <a:latin typeface="TH Sarabun New" panose="020B0500040200020003" pitchFamily="34" charset="-34"/>
                <a:cs typeface="TH Sarabun New" panose="020B0500040200020003" pitchFamily="34" charset="-34"/>
              </a:rPr>
              <a:t/>
            </a:r>
            <a:br>
              <a:rPr lang="en-US" dirty="0">
                <a:latin typeface="TH Sarabun New" panose="020B0500040200020003" pitchFamily="34" charset="-34"/>
                <a:cs typeface="TH Sarabun New" panose="020B0500040200020003" pitchFamily="34" charset="-34"/>
              </a:rPr>
            </a:br>
            <a:r>
              <a:rPr lang="en-US" dirty="0">
                <a:latin typeface="TH Sarabun New" panose="020B0500040200020003" pitchFamily="34" charset="-34"/>
                <a:cs typeface="TH Sarabun New" panose="020B0500040200020003" pitchFamily="34" charset="-34"/>
              </a:rPr>
              <a:t/>
            </a:r>
            <a:br>
              <a:rPr lang="en-US" dirty="0">
                <a:latin typeface="TH Sarabun New" panose="020B0500040200020003" pitchFamily="34" charset="-34"/>
                <a:cs typeface="TH Sarabun New" panose="020B0500040200020003" pitchFamily="34" charset="-34"/>
              </a:rPr>
            </a:br>
            <a:r>
              <a:rPr lang="en-US" dirty="0">
                <a:latin typeface="TH Sarabun New" panose="020B0500040200020003" pitchFamily="34" charset="-34"/>
                <a:cs typeface="TH Sarabun New" panose="020B0500040200020003" pitchFamily="34" charset="-34"/>
              </a:rPr>
              <a:t/>
            </a:r>
            <a:br>
              <a:rPr lang="en-US" dirty="0">
                <a:latin typeface="TH Sarabun New" panose="020B0500040200020003" pitchFamily="34" charset="-34"/>
                <a:cs typeface="TH Sarabun New" panose="020B0500040200020003" pitchFamily="34" charset="-34"/>
              </a:rPr>
            </a:br>
            <a:endParaRPr lang="th-TH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  <a:p>
            <a:r>
              <a:rPr lang="en-US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“</a:t>
            </a:r>
            <a:r>
              <a:rPr lang="en-US" b="1" dirty="0" err="1">
                <a:latin typeface="TH Sarabun New" panose="020B0500040200020003" pitchFamily="34" charset="-34"/>
                <a:cs typeface="TH Sarabun New" panose="020B0500040200020003" pitchFamily="34" charset="-34"/>
              </a:rPr>
              <a:t>docker</a:t>
            </a:r>
            <a:r>
              <a:rPr lang="en-US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  <a:r>
              <a:rPr lang="en-US" b="1" dirty="0" err="1">
                <a:latin typeface="TH Sarabun New" panose="020B0500040200020003" pitchFamily="34" charset="-34"/>
                <a:cs typeface="TH Sarabun New" panose="020B0500040200020003" pitchFamily="34" charset="-34"/>
              </a:rPr>
              <a:t>ps</a:t>
            </a:r>
            <a:r>
              <a:rPr lang="en-US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”</a:t>
            </a:r>
            <a:r>
              <a:rPr lang="th-TH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  <a:r>
              <a:rPr lang="th-TH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เป็นคำสั่งเพื่อเช็ค </a:t>
            </a:r>
            <a:r>
              <a:rPr lang="en-US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containers </a:t>
            </a:r>
            <a:r>
              <a:rPr lang="th-TH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ที่กำลังรันอยู่</a:t>
            </a:r>
            <a:endParaRPr lang="en-US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  <a:p>
            <a:pPr marL="0" indent="0">
              <a:buNone/>
            </a:pPr>
            <a:endParaRPr lang="en-US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  <a:p>
            <a:endParaRPr lang="en-US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5228217"/>
            <a:ext cx="10898121" cy="79068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/>
          <a:srcRect t="4731"/>
          <a:stretch/>
        </p:blipFill>
        <p:spPr>
          <a:xfrm>
            <a:off x="838200" y="3174274"/>
            <a:ext cx="5963482" cy="1415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60980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dirty="0"/>
              <a:t>ผลที่ได้หลังทดสอบ </a:t>
            </a:r>
            <a:r>
              <a:rPr lang="en-US" dirty="0"/>
              <a:t>Deploy Sample Web App </a:t>
            </a:r>
            <a:r>
              <a:rPr lang="th-TH" dirty="0"/>
              <a:t>บน </a:t>
            </a:r>
            <a:r>
              <a:rPr lang="en-US" dirty="0"/>
              <a:t>Tomcat Web Server Container </a:t>
            </a:r>
            <a:r>
              <a:rPr lang="th-TH" dirty="0"/>
              <a:t>จะได้ดังนี้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629682"/>
            <a:ext cx="10853056" cy="5228318"/>
          </a:xfrm>
          <a:prstGeom prst="rect">
            <a:avLst/>
          </a:prstGeom>
          <a:ln>
            <a:solidFill>
              <a:schemeClr val="tx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val="38345846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0075" y="129994"/>
            <a:ext cx="11035937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th-TH" dirty="0"/>
              <a:t>ผลหลังจากรันคำสั่งต่างๆเพื่อสร้าง </a:t>
            </a:r>
            <a:r>
              <a:rPr lang="en-US" dirty="0"/>
              <a:t>Tomcat Web Server Container </a:t>
            </a:r>
            <a:r>
              <a:rPr lang="th-TH" dirty="0"/>
              <a:t>ดูจาก </a:t>
            </a:r>
            <a:r>
              <a:rPr lang="en-US" dirty="0"/>
              <a:t>Docker Desktop </a:t>
            </a:r>
            <a:r>
              <a:rPr lang="th-TH" dirty="0"/>
              <a:t>จะพบ </a:t>
            </a:r>
            <a:r>
              <a:rPr lang="en-US" dirty="0"/>
              <a:t>2 Containers </a:t>
            </a:r>
            <a:r>
              <a:rPr lang="th-TH" dirty="0"/>
              <a:t>ดังนี้</a:t>
            </a:r>
            <a:r>
              <a:rPr lang="en-US" dirty="0"/>
              <a:t> 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228" y="1455557"/>
            <a:ext cx="11955543" cy="4848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08575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209006"/>
            <a:ext cx="4060371" cy="4351338"/>
          </a:xfrm>
        </p:spPr>
        <p:txBody>
          <a:bodyPr/>
          <a:lstStyle/>
          <a:p>
            <a:r>
              <a:rPr lang="en-US" dirty="0" err="1"/>
              <a:t>docker</a:t>
            </a:r>
            <a:r>
              <a:rPr lang="en-US" dirty="0"/>
              <a:t> build -f </a:t>
            </a:r>
            <a:r>
              <a:rPr lang="en-US" dirty="0" err="1"/>
              <a:t>DockerContainer_NodeJS.dockerfile</a:t>
            </a:r>
            <a:r>
              <a:rPr lang="en-US" dirty="0"/>
              <a:t> -t </a:t>
            </a:r>
            <a:r>
              <a:rPr lang="en-US" dirty="0" err="1"/>
              <a:t>nodejs</a:t>
            </a:r>
            <a:r>
              <a:rPr lang="en-US" dirty="0"/>
              <a:t>-image .</a:t>
            </a:r>
          </a:p>
          <a:p>
            <a:r>
              <a:rPr lang="en-US" dirty="0" err="1"/>
              <a:t>docker</a:t>
            </a:r>
            <a:r>
              <a:rPr lang="en-US" dirty="0"/>
              <a:t> run -d --name </a:t>
            </a:r>
            <a:r>
              <a:rPr lang="en-US" dirty="0" err="1"/>
              <a:t>nodejs</a:t>
            </a:r>
            <a:r>
              <a:rPr lang="en-US" dirty="0"/>
              <a:t>-container --network mynetwork1 -p 3000:3000 </a:t>
            </a:r>
            <a:r>
              <a:rPr lang="en-US" dirty="0" err="1"/>
              <a:t>nodejs</a:t>
            </a:r>
            <a:r>
              <a:rPr lang="en-US" dirty="0"/>
              <a:t>-image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4439194" y="1436914"/>
            <a:ext cx="7602583" cy="433965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200" dirty="0"/>
              <a:t># Use the official Node.js image from Docker Hub</a:t>
            </a:r>
          </a:p>
          <a:p>
            <a:r>
              <a:rPr lang="en-US" sz="1200" dirty="0"/>
              <a:t>FROM node:18-alpine</a:t>
            </a:r>
          </a:p>
          <a:p>
            <a:endParaRPr lang="en-US" sz="1200" dirty="0"/>
          </a:p>
          <a:p>
            <a:r>
              <a:rPr lang="en-US" sz="1200" dirty="0"/>
              <a:t># Set the working directory inside the container</a:t>
            </a:r>
          </a:p>
          <a:p>
            <a:r>
              <a:rPr lang="en-US" sz="1200" dirty="0"/>
              <a:t>WORKDIR /app</a:t>
            </a:r>
          </a:p>
          <a:p>
            <a:endParaRPr lang="en-US" sz="1200" dirty="0"/>
          </a:p>
          <a:p>
            <a:r>
              <a:rPr lang="en-US" sz="1200" dirty="0"/>
              <a:t># Step 1: Copy the </a:t>
            </a:r>
            <a:r>
              <a:rPr lang="en-US" sz="1200" dirty="0" err="1"/>
              <a:t>package.json</a:t>
            </a:r>
            <a:r>
              <a:rPr lang="en-US" sz="1200" dirty="0"/>
              <a:t> and package-</a:t>
            </a:r>
            <a:r>
              <a:rPr lang="en-US" sz="1200" dirty="0" err="1"/>
              <a:t>lock.json</a:t>
            </a:r>
            <a:r>
              <a:rPr lang="en-US" sz="1200" dirty="0"/>
              <a:t> (if available)</a:t>
            </a:r>
          </a:p>
          <a:p>
            <a:r>
              <a:rPr lang="en-US" sz="1200" dirty="0"/>
              <a:t>COPY ./Frontend/package*.</a:t>
            </a:r>
            <a:r>
              <a:rPr lang="en-US" sz="1200" dirty="0" err="1"/>
              <a:t>json</a:t>
            </a:r>
            <a:r>
              <a:rPr lang="en-US" sz="1200" dirty="0"/>
              <a:t> ./</a:t>
            </a:r>
          </a:p>
          <a:p>
            <a:endParaRPr lang="en-US" sz="1200" dirty="0"/>
          </a:p>
          <a:p>
            <a:r>
              <a:rPr lang="en-US" sz="1200" dirty="0"/>
              <a:t># Step 2: Install the Node.js dependencies (fresh, matching container's OS/arch)</a:t>
            </a:r>
          </a:p>
          <a:p>
            <a:r>
              <a:rPr lang="en-US" sz="1200" dirty="0"/>
              <a:t>RUN </a:t>
            </a:r>
            <a:r>
              <a:rPr lang="en-US" sz="1200" dirty="0" err="1"/>
              <a:t>npm</a:t>
            </a:r>
            <a:r>
              <a:rPr lang="en-US" sz="1200" dirty="0"/>
              <a:t> install --omit=dev</a:t>
            </a:r>
          </a:p>
          <a:p>
            <a:endParaRPr lang="en-US" sz="1200" dirty="0"/>
          </a:p>
          <a:p>
            <a:r>
              <a:rPr lang="en-US" sz="1200" dirty="0"/>
              <a:t># Step 3: Copy the rest of the application code to the container</a:t>
            </a:r>
          </a:p>
          <a:p>
            <a:r>
              <a:rPr lang="en-US" sz="1200" dirty="0"/>
              <a:t># (Frontend/</a:t>
            </a:r>
            <a:r>
              <a:rPr lang="en-US" sz="1200" dirty="0" err="1"/>
              <a:t>node_modules</a:t>
            </a:r>
            <a:r>
              <a:rPr lang="en-US" sz="1200" dirty="0"/>
              <a:t> is excluded via .</a:t>
            </a:r>
            <a:r>
              <a:rPr lang="en-US" sz="1200" dirty="0" err="1"/>
              <a:t>dockerignore</a:t>
            </a:r>
            <a:r>
              <a:rPr lang="en-US" sz="1200" dirty="0"/>
              <a:t>)</a:t>
            </a:r>
          </a:p>
          <a:p>
            <a:r>
              <a:rPr lang="en-US" sz="1200" dirty="0"/>
              <a:t>COPY ./Frontend .</a:t>
            </a:r>
          </a:p>
          <a:p>
            <a:endParaRPr lang="en-US" sz="1200" dirty="0"/>
          </a:p>
          <a:p>
            <a:r>
              <a:rPr lang="en-US" sz="1200" dirty="0"/>
              <a:t># Expose the port that your Node.js app runs on</a:t>
            </a:r>
          </a:p>
          <a:p>
            <a:r>
              <a:rPr lang="en-US" sz="1200" dirty="0"/>
              <a:t>EXPOSE 3000</a:t>
            </a:r>
          </a:p>
          <a:p>
            <a:endParaRPr lang="en-US" sz="1200" dirty="0"/>
          </a:p>
          <a:p>
            <a:r>
              <a:rPr lang="en-US" sz="1200" dirty="0"/>
              <a:t># Step 4: Command to start the Node.js application</a:t>
            </a:r>
          </a:p>
          <a:p>
            <a:r>
              <a:rPr lang="en-US" sz="1200" dirty="0"/>
              <a:t>CMD ["node", "server.js"]</a:t>
            </a:r>
          </a:p>
          <a:p>
            <a:endParaRPr lang="en-US" sz="1200" dirty="0"/>
          </a:p>
          <a:p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10194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dirty="0" smtClean="0"/>
              <a:t>มี </a:t>
            </a:r>
            <a:r>
              <a:rPr lang="en-US" dirty="0" smtClean="0"/>
              <a:t>3 containers </a:t>
            </a:r>
            <a:r>
              <a:rPr lang="th-TH" dirty="0" smtClean="0"/>
              <a:t>รัน</a:t>
            </a:r>
            <a:r>
              <a:rPr lang="en-US" dirty="0" smtClean="0"/>
              <a:t> </a:t>
            </a:r>
            <a:r>
              <a:rPr lang="th-TH" dirty="0" smtClean="0"/>
              <a:t>แสดงใน </a:t>
            </a:r>
            <a:r>
              <a:rPr lang="en-US" dirty="0" smtClean="0"/>
              <a:t>Docker Desktop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4554" t="803" r="5390" b="35089"/>
          <a:stretch/>
        </p:blipFill>
        <p:spPr>
          <a:xfrm>
            <a:off x="237308" y="1825625"/>
            <a:ext cx="11717383" cy="4689565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14952987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dirty="0" smtClean="0"/>
              <a:t>ลองเรียกใช้ </a:t>
            </a:r>
            <a:r>
              <a:rPr lang="en-US" dirty="0" smtClean="0"/>
              <a:t>Web App</a:t>
            </a:r>
            <a:r>
              <a:rPr lang="th-TH" dirty="0" smtClean="0"/>
              <a:t>จาก </a:t>
            </a:r>
            <a:r>
              <a:rPr lang="en-US" dirty="0" smtClean="0"/>
              <a:t>http://localhost:3000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b="14669"/>
          <a:stretch/>
        </p:blipFill>
        <p:spPr>
          <a:xfrm>
            <a:off x="2226255" y="1825626"/>
            <a:ext cx="7739489" cy="3713026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val="21388736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2413</TotalTime>
  <Words>1121</Words>
  <Application>Microsoft Office PowerPoint</Application>
  <PresentationFormat>Widescreen</PresentationFormat>
  <Paragraphs>103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5" baseType="lpstr">
      <vt:lpstr>Angsana New</vt:lpstr>
      <vt:lpstr>Arial</vt:lpstr>
      <vt:lpstr>Browallia New</vt:lpstr>
      <vt:lpstr>Calibri</vt:lpstr>
      <vt:lpstr>Calibri Light</vt:lpstr>
      <vt:lpstr>Cordia New</vt:lpstr>
      <vt:lpstr>TH Sarabun New</vt:lpstr>
      <vt:lpstr>Office Theme</vt:lpstr>
      <vt:lpstr>การสร้างสภาพแวดล้อมด้วย Docker Containers สำหรับ  ใช้พัฒนา (Dev Environment),  ใช้ทดสอบ (Test/Staging Environment),  ใช้งานจริง(Production Environment)</vt:lpstr>
      <vt:lpstr>ความสำคัญของ Docker สำหรับ Software Engineer / Developer</vt:lpstr>
      <vt:lpstr>PowerPoint Presentation</vt:lpstr>
      <vt:lpstr>UML Deployment Diagram แสดง Environment  สำหรับติดตั้ง Web App</vt:lpstr>
      <vt:lpstr>ขั้นตอนการติดตั้ง Docker และ Containers สำหรับวิชา CS264/CS261 </vt:lpstr>
      <vt:lpstr>PowerPoint Presentation</vt:lpstr>
      <vt:lpstr>ขั้นตอนการลง Docker Desktop ให้สำเร็จ</vt:lpstr>
      <vt:lpstr>PowerPoint Presentation</vt:lpstr>
      <vt:lpstr>ผลหลังจากรันคำสั่งต่างๆเพื่อสร้าง SQL Server Container ดูจาก Docker Desktop จะได้ผลดังนี้ </vt:lpstr>
      <vt:lpstr>ทดสอบ Connect เข้า SQL Server Container โดยใช้ SSMS ในการ Manage DB (ติดตั้ง SSMS-Setup-ENU.exe ถ้ามีก็ไม่ต้องลง)</vt:lpstr>
      <vt:lpstr>PowerPoint Presentation</vt:lpstr>
      <vt:lpstr>คำสั่ง docker commands สำหรับตรวจสอบ Tomcat Container</vt:lpstr>
      <vt:lpstr>ผลที่ได้หลังทดสอบ Deploy Sample Web App บน Tomcat Web Server Container จะได้ดังนี้</vt:lpstr>
      <vt:lpstr>ผลหลังจากรันคำสั่งต่างๆเพื่อสร้าง Tomcat Web Server Container ดูจาก Docker Desktop จะพบ 2 Containers ดังนี้ </vt:lpstr>
      <vt:lpstr>PowerPoint Presentation</vt:lpstr>
      <vt:lpstr>มี 3 containers รัน แสดงใน Docker Desktop</vt:lpstr>
      <vt:lpstr>ลองเรียกใช้ Web Appจาก http://localhost:3000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Songsakdi Rongviriyapanish</cp:lastModifiedBy>
  <cp:revision>76</cp:revision>
  <dcterms:created xsi:type="dcterms:W3CDTF">2024-08-16T02:31:21Z</dcterms:created>
  <dcterms:modified xsi:type="dcterms:W3CDTF">2026-09-02T07:33:31Z</dcterms:modified>
</cp:coreProperties>
</file>